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5" r:id="rId5"/>
    <p:sldId id="348" r:id="rId6"/>
    <p:sldId id="349" r:id="rId7"/>
    <p:sldId id="333" r:id="rId8"/>
    <p:sldId id="257" r:id="rId9"/>
    <p:sldId id="317" r:id="rId10"/>
    <p:sldId id="353" r:id="rId11"/>
    <p:sldId id="343" r:id="rId12"/>
    <p:sldId id="344" r:id="rId13"/>
    <p:sldId id="345" r:id="rId14"/>
    <p:sldId id="350" r:id="rId15"/>
    <p:sldId id="269" r:id="rId16"/>
    <p:sldId id="351" r:id="rId17"/>
    <p:sldId id="346" r:id="rId18"/>
    <p:sldId id="352" r:id="rId19"/>
    <p:sldId id="347" r:id="rId20"/>
  </p:sldIdLst>
  <p:sldSz cx="9540875" cy="6661150"/>
  <p:notesSz cx="6797675" cy="9926638"/>
  <p:embeddedFontLst>
    <p:embeddedFont>
      <p:font typeface="KaiTi" panose="02010609060101010101" pitchFamily="49" charset="-122"/>
      <p:regular r:id="rId23"/>
    </p:embeddedFont>
    <p:embeddedFont>
      <p:font typeface="Microsoft YaHei" panose="020B0503020204020204" pitchFamily="34" charset="-122"/>
      <p:regular r:id="rId24"/>
      <p:bold r:id="rId25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>
          <p15:clr>
            <a:srgbClr val="A4A3A4"/>
          </p15:clr>
        </p15:guide>
        <p15:guide id="2" orient="horz" pos="3855">
          <p15:clr>
            <a:srgbClr val="A4A3A4"/>
          </p15:clr>
        </p15:guide>
        <p15:guide id="3" pos="2495">
          <p15:clr>
            <a:srgbClr val="A4A3A4"/>
          </p15:clr>
        </p15:guide>
        <p15:guide id="4" pos="3515">
          <p15:clr>
            <a:srgbClr val="A4A3A4"/>
          </p15:clr>
        </p15:guide>
        <p15:guide id="5" pos="3629">
          <p15:clr>
            <a:srgbClr val="A4A3A4"/>
          </p15:clr>
        </p15:guide>
        <p15:guide id="6" pos="2381">
          <p15:clr>
            <a:srgbClr val="A4A3A4"/>
          </p15:clr>
        </p15:guide>
        <p15:guide id="7" pos="4649">
          <p15:clr>
            <a:srgbClr val="A4A3A4"/>
          </p15:clr>
        </p15:guide>
        <p15:guide id="8" pos="4762">
          <p15:clr>
            <a:srgbClr val="A4A3A4"/>
          </p15:clr>
        </p15:guide>
        <p15:guide id="9" pos="1361">
          <p15:clr>
            <a:srgbClr val="A4A3A4"/>
          </p15:clr>
        </p15:guide>
        <p15:guide id="10" pos="12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15A"/>
    <a:srgbClr val="FFFF00"/>
    <a:srgbClr val="FF5050"/>
    <a:srgbClr val="CEB6AA"/>
    <a:srgbClr val="FF7C80"/>
    <a:srgbClr val="0050A5"/>
    <a:srgbClr val="FFFFFF"/>
    <a:srgbClr val="D9D9D9"/>
    <a:srgbClr val="003399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364" y="44"/>
      </p:cViewPr>
      <p:guideLst>
        <p:guide orient="horz" pos="1021"/>
        <p:guide orient="horz" pos="3855"/>
        <p:guide pos="2495"/>
        <p:guide pos="3515"/>
        <p:guide pos="3629"/>
        <p:guide pos="2381"/>
        <p:guide pos="4649"/>
        <p:guide pos="4762"/>
        <p:guide pos="1361"/>
        <p:guide pos="12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 Xiangyu (BSH GDE-CLBSA1)" userId="45d1986d-09eb-41ce-a501-4ea17bb4ce64" providerId="ADAL" clId="{BAD169EF-BF3A-48F5-8885-3BF1FDBAB05F}"/>
    <pc:docChg chg="modSld">
      <pc:chgData name="Liu Xiangyu (BSH GDE-CLBSA1)" userId="45d1986d-09eb-41ce-a501-4ea17bb4ce64" providerId="ADAL" clId="{BAD169EF-BF3A-48F5-8885-3BF1FDBAB05F}" dt="2025-11-28T05:05:35.861" v="1" actId="2711"/>
      <pc:docMkLst>
        <pc:docMk/>
      </pc:docMkLst>
      <pc:sldChg chg="modSp mod">
        <pc:chgData name="Liu Xiangyu (BSH GDE-CLBSA1)" userId="45d1986d-09eb-41ce-a501-4ea17bb4ce64" providerId="ADAL" clId="{BAD169EF-BF3A-48F5-8885-3BF1FDBAB05F}" dt="2025-11-28T05:05:26.105" v="0" actId="2711"/>
        <pc:sldMkLst>
          <pc:docMk/>
          <pc:sldMk cId="0" sldId="285"/>
        </pc:sldMkLst>
        <pc:spChg chg="mod">
          <ac:chgData name="Liu Xiangyu (BSH GDE-CLBSA1)" userId="45d1986d-09eb-41ce-a501-4ea17bb4ce64" providerId="ADAL" clId="{BAD169EF-BF3A-48F5-8885-3BF1FDBAB05F}" dt="2025-11-28T05:05:26.105" v="0" actId="2711"/>
          <ac:spMkLst>
            <pc:docMk/>
            <pc:sldMk cId="0" sldId="285"/>
            <ac:spMk id="10242" creationId="{00000000-0000-0000-0000-000000000000}"/>
          </ac:spMkLst>
        </pc:spChg>
      </pc:sldChg>
      <pc:sldChg chg="modSp mod">
        <pc:chgData name="Liu Xiangyu (BSH GDE-CLBSA1)" userId="45d1986d-09eb-41ce-a501-4ea17bb4ce64" providerId="ADAL" clId="{BAD169EF-BF3A-48F5-8885-3BF1FDBAB05F}" dt="2025-11-28T05:05:35.861" v="1" actId="2711"/>
        <pc:sldMkLst>
          <pc:docMk/>
          <pc:sldMk cId="606053659" sldId="348"/>
        </pc:sldMkLst>
        <pc:spChg chg="mod">
          <ac:chgData name="Liu Xiangyu (BSH GDE-CLBSA1)" userId="45d1986d-09eb-41ce-a501-4ea17bb4ce64" providerId="ADAL" clId="{BAD169EF-BF3A-48F5-8885-3BF1FDBAB05F}" dt="2025-11-28T05:05:35.861" v="1" actId="2711"/>
          <ac:spMkLst>
            <pc:docMk/>
            <pc:sldMk cId="606053659" sldId="348"/>
            <ac:spMk id="18" creationId="{12DA5A98-F385-5C4A-2AAA-B38FA8C07F00}"/>
          </ac:spMkLst>
        </pc:spChg>
        <pc:spChg chg="mod">
          <ac:chgData name="Liu Xiangyu (BSH GDE-CLBSA1)" userId="45d1986d-09eb-41ce-a501-4ea17bb4ce64" providerId="ADAL" clId="{BAD169EF-BF3A-48F5-8885-3BF1FDBAB05F}" dt="2025-11-28T05:05:35.861" v="1" actId="2711"/>
          <ac:spMkLst>
            <pc:docMk/>
            <pc:sldMk cId="606053659" sldId="348"/>
            <ac:spMk id="19" creationId="{34021180-7045-671B-659D-429F32A73E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69F1F4-BB08-4A13-8DEB-55CE30C97A90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3425" y="744538"/>
            <a:ext cx="53324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2A2EEC-23B4-4E74-8074-D6EA744CAA5B}" type="slidenum">
              <a:rPr lang="de-DE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532AA5-4CA6-4A3C-8BED-5F1C14B69B66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net.bshg.com/global/intranet/EN/communications/news/Documents/Video/profil_de.html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0" y="3240088"/>
            <a:ext cx="9537700" cy="3059112"/>
          </a:xfrm>
          <a:prstGeom prst="rect">
            <a:avLst/>
          </a:prstGeom>
          <a:solidFill>
            <a:srgbClr val="007832"/>
          </a:solidFill>
          <a:ln w="13970" algn="ctr">
            <a:solidFill>
              <a:srgbClr val="007832"/>
            </a:solidFill>
            <a:miter lim="800000"/>
            <a:headEnd/>
            <a:tailEnd/>
          </a:ln>
          <a:effectLst/>
        </p:spPr>
        <p:txBody>
          <a:bodyPr rot="10800000" vert="eaVert" wrap="square" lIns="90000" tIns="90000" rIns="90000" bIns="90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8775" y="3417888"/>
            <a:ext cx="3419475" cy="2700337"/>
          </a:xfrm>
          <a:solidFill>
            <a:schemeClr val="hlink"/>
          </a:solidFill>
        </p:spPr>
        <p:txBody>
          <a:bodyPr/>
          <a:lstStyle>
            <a:lvl1pPr marL="0" indent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pic>
        <p:nvPicPr>
          <p:cNvPr id="7183" name="Picture 15" descr="BSH-Logo_A4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7113" y="557213"/>
            <a:ext cx="1463675" cy="433387"/>
          </a:xfrm>
          <a:prstGeom prst="rect">
            <a:avLst/>
          </a:prstGeom>
          <a:noFill/>
        </p:spPr>
      </p:pic>
      <p:pic>
        <p:nvPicPr>
          <p:cNvPr id="8" name="Picture 20"/>
          <p:cNvPicPr>
            <a:picLocks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76688" y="3241675"/>
            <a:ext cx="5578475" cy="3055938"/>
          </a:xfrm>
          <a:prstGeom prst="rect">
            <a:avLst/>
          </a:prstGeom>
          <a:noFill/>
          <a:ln w="6350" cap="sq">
            <a:noFill/>
            <a:miter lim="800000"/>
            <a:headEnd/>
            <a:tailEnd/>
          </a:ln>
          <a:effectLst/>
        </p:spPr>
      </p:pic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58775" y="2700000"/>
            <a:ext cx="8816975" cy="360363"/>
          </a:xfrm>
        </p:spPr>
        <p:txBody>
          <a:bodyPr/>
          <a:lstStyle>
            <a:lvl1pPr>
              <a:defRPr sz="26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 Box 46"/>
          <p:cNvSpPr txBox="1">
            <a:spLocks noChangeArrowheads="1"/>
          </p:cNvSpPr>
          <p:nvPr userDrawn="1"/>
        </p:nvSpPr>
        <p:spPr bwMode="auto">
          <a:xfrm>
            <a:off x="358775" y="6346800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spcBef>
                <a:spcPct val="50000"/>
              </a:spcBef>
            </a:pPr>
            <a:r>
              <a:rPr lang="de-DE" sz="800" noProof="0"/>
              <a:t>B S H   H A U S G E R Ä T E   G R</a:t>
            </a:r>
            <a:r>
              <a:rPr lang="de-DE" sz="800" baseline="0" noProof="0"/>
              <a:t> U P P E</a:t>
            </a:r>
            <a:endParaRPr lang="de-DE" sz="800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2" name="Line 40"/>
          <p:cNvSpPr>
            <a:spLocks noChangeShapeType="1"/>
          </p:cNvSpPr>
          <p:nvPr userDrawn="1"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10"/>
          </p:nvPr>
        </p:nvSpPr>
        <p:spPr>
          <a:xfrm>
            <a:off x="360437" y="1620575"/>
            <a:ext cx="8820000" cy="45000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3240088"/>
            <a:ext cx="9537700" cy="3059112"/>
          </a:xfrm>
          <a:prstGeom prst="rect">
            <a:avLst/>
          </a:prstGeom>
          <a:solidFill>
            <a:schemeClr val="hlink"/>
          </a:solidFill>
          <a:ln w="63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1200" noProof="0">
              <a:solidFill>
                <a:srgbClr val="000000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358775" y="6405563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50000"/>
              </a:spcBef>
              <a:defRPr/>
            </a:pPr>
            <a:r>
              <a:rPr lang="en-US" sz="800">
                <a:solidFill>
                  <a:srgbClr val="000000"/>
                </a:solidFill>
              </a:rPr>
              <a:t>B S H   H A U S G E R Ä T E   G R U P P E</a:t>
            </a:r>
          </a:p>
        </p:txBody>
      </p:sp>
      <p:pic>
        <p:nvPicPr>
          <p:cNvPr id="7" name="Picture 15" descr="BSH-Logo_A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7113" y="557213"/>
            <a:ext cx="1463675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775" y="2700338"/>
            <a:ext cx="8816975" cy="396875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noProof="0"/>
              <a:t>Titelmasterformat durch Klicken bearbeiten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8775" y="3417888"/>
            <a:ext cx="3419475" cy="2700337"/>
          </a:xfrm>
          <a:noFill/>
        </p:spPr>
        <p:txBody>
          <a:bodyPr/>
          <a:lstStyle>
            <a:lvl1pPr marL="0" indent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Anlass der Präsentation</a:t>
            </a:r>
          </a:p>
          <a:p>
            <a:endParaRPr lang="en-US" noProof="0"/>
          </a:p>
          <a:p>
            <a:r>
              <a:rPr lang="en-US" noProof="0"/>
              <a:t>TT. Monat JJJJ</a:t>
            </a:r>
          </a:p>
          <a:p>
            <a:r>
              <a:rPr lang="en-US" noProof="0"/>
              <a:t>Vortragender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1079500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1063" name="Line 39"/>
          <p:cNvSpPr>
            <a:spLocks noChangeShapeType="1"/>
          </p:cNvSpPr>
          <p:nvPr/>
        </p:nvSpPr>
        <p:spPr bwMode="auto">
          <a:xfrm>
            <a:off x="0" y="89852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64" name="Line 40"/>
          <p:cNvSpPr>
            <a:spLocks noChangeShapeType="1"/>
          </p:cNvSpPr>
          <p:nvPr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65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8775" y="1620838"/>
            <a:ext cx="8816975" cy="44989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70" name="Text Box 46"/>
          <p:cNvSpPr txBox="1">
            <a:spLocks noChangeArrowheads="1"/>
          </p:cNvSpPr>
          <p:nvPr/>
        </p:nvSpPr>
        <p:spPr bwMode="auto">
          <a:xfrm>
            <a:off x="358775" y="6347205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de-DE" sz="800" noProof="0"/>
              <a:t>B S H   H A U S G E R Ä T E   G R</a:t>
            </a:r>
            <a:r>
              <a:rPr lang="de-DE" sz="800" baseline="0" noProof="0"/>
              <a:t> U P P E</a:t>
            </a:r>
            <a:endParaRPr lang="de-DE" sz="800" noProof="0"/>
          </a:p>
        </p:txBody>
      </p:sp>
      <p:pic>
        <p:nvPicPr>
          <p:cNvPr id="1079" name="Picture 55" descr="BSH-Logo_A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75563" y="233363"/>
            <a:ext cx="1463675" cy="433387"/>
          </a:xfrm>
          <a:prstGeom prst="rect">
            <a:avLst/>
          </a:prstGeom>
          <a:noFill/>
        </p:spPr>
      </p:pic>
      <p:sp>
        <p:nvSpPr>
          <p:cNvPr id="11" name="Line 40_"/>
          <p:cNvSpPr>
            <a:spLocks noChangeShapeType="1"/>
          </p:cNvSpPr>
          <p:nvPr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3" name="Textfeld 12"/>
          <p:cNvSpPr txBox="1"/>
          <p:nvPr userDrawn="1"/>
        </p:nvSpPr>
        <p:spPr>
          <a:xfrm>
            <a:off x="3959986" y="6347205"/>
            <a:ext cx="5219700" cy="2159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kumimoji="0" lang="en-US" sz="800" b="0" i="0" u="none" baseline="0">
                <a:solidFill>
                  <a:schemeClr val="tx1"/>
                </a:solidFill>
                <a:effectLst/>
                <a:latin typeface="Arial"/>
              </a:rPr>
              <a:t> I Slide: </a:t>
            </a:r>
            <a:fld id="{35281C45-19FC-414C-97D3-3D1CC3752485}" type="slidenum">
              <a:rPr kumimoji="0" lang="en-US" sz="800" b="0" i="0" u="none" baseline="0" smtClean="0">
                <a:solidFill>
                  <a:schemeClr val="tx1"/>
                </a:solidFill>
                <a:effectLst/>
                <a:latin typeface="Arial"/>
              </a:rPr>
              <a:pPr algn="r"/>
              <a:t>‹#›</a:t>
            </a:fld>
            <a:endParaRPr kumimoji="0" lang="en-US" sz="800" b="0" i="0" u="none" baseline="0">
              <a:solidFill>
                <a:schemeClr val="tx1"/>
              </a:solidFill>
              <a:effectLst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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17621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2pPr>
      <a:lvl3pPr marL="985838" indent="-1778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3pPr>
      <a:lvl4pPr marL="1346200" indent="-1809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</a:defRPr>
      </a:lvl4pPr>
      <a:lvl5pPr marL="1704975" indent="-17938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</a:defRPr>
      </a:lvl5pPr>
      <a:lvl6pPr marL="21621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6pPr>
      <a:lvl7pPr marL="26193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7pPr>
      <a:lvl8pPr marL="30765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8pPr>
      <a:lvl9pPr marL="35337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752194"/>
            <a:ext cx="5002924" cy="1405986"/>
          </a:xfrm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latin typeface="+mn-lt"/>
                <a:ea typeface="华文中宋" panose="02010600040101010101" pitchFamily="2" charset="-122"/>
              </a:rPr>
              <a:t>Problem solving booklet_ Compartment temperature difference</a:t>
            </a:r>
            <a:endParaRPr lang="en-US" sz="2800" dirty="0">
              <a:solidFill>
                <a:schemeClr val="bg1"/>
              </a:solidFill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8680" name="Picture 8">
            <a:extLst>
              <a:ext uri="{FF2B5EF4-FFF2-40B4-BE49-F238E27FC236}">
                <a16:creationId xmlns:a16="http://schemas.microsoft.com/office/drawing/2014/main" id="{13BE5CAA-6AA0-7FEB-FB20-212B05F95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045" y="3256805"/>
            <a:ext cx="1386296" cy="306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2" name="Picture 10">
            <a:extLst>
              <a:ext uri="{FF2B5EF4-FFF2-40B4-BE49-F238E27FC236}">
                <a16:creationId xmlns:a16="http://schemas.microsoft.com/office/drawing/2014/main" id="{338FAE03-0439-CF40-6D7C-99650A09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437" y="3234630"/>
            <a:ext cx="2740850" cy="305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0">
            <a:extLst>
              <a:ext uri="{FF2B5EF4-FFF2-40B4-BE49-F238E27FC236}">
                <a16:creationId xmlns:a16="http://schemas.microsoft.com/office/drawing/2014/main" id="{8130B69D-067E-EBB5-FA22-E68EEF31CEE2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690817" y="-179425"/>
            <a:ext cx="10922507" cy="6840575"/>
          </a:xfrm>
          <a:prstGeom prst="rect">
            <a:avLst/>
          </a:prstGeom>
          <a:noFill/>
          <a:ln w="6350" cap="sq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/>
            </a:outerShdw>
            <a:reflection endPos="0" dist="50800" dir="5400000" sy="-100000" algn="bl" rotWithShape="0"/>
            <a:softEdge rad="63500"/>
          </a:effec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85DCD7FB-64E2-942A-6850-488A35D870DC}"/>
              </a:ext>
            </a:extLst>
          </p:cNvPr>
          <p:cNvGrpSpPr/>
          <p:nvPr/>
        </p:nvGrpSpPr>
        <p:grpSpPr>
          <a:xfrm>
            <a:off x="3695058" y="519707"/>
            <a:ext cx="3775380" cy="702829"/>
            <a:chOff x="3695057" y="372026"/>
            <a:chExt cx="4289557" cy="798549"/>
          </a:xfrm>
        </p:grpSpPr>
        <p:sp>
          <p:nvSpPr>
            <p:cNvPr id="6" name="圆角矩形 4">
              <a:extLst>
                <a:ext uri="{FF2B5EF4-FFF2-40B4-BE49-F238E27FC236}">
                  <a16:creationId xmlns:a16="http://schemas.microsoft.com/office/drawing/2014/main" id="{FA283882-8CC6-B573-DBE3-E5993EB4B0A1}"/>
                </a:ext>
              </a:extLst>
            </p:cNvPr>
            <p:cNvSpPr/>
            <p:nvPr/>
          </p:nvSpPr>
          <p:spPr>
            <a:xfrm>
              <a:off x="3695057" y="372026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01</a:t>
              </a:r>
              <a:endParaRPr lang="zh-CN" altLang="en-US" sz="2400" b="1"/>
            </a:p>
          </p:txBody>
        </p:sp>
        <p:sp>
          <p:nvSpPr>
            <p:cNvPr id="7" name="圆角矩形 58">
              <a:extLst>
                <a:ext uri="{FF2B5EF4-FFF2-40B4-BE49-F238E27FC236}">
                  <a16:creationId xmlns:a16="http://schemas.microsoft.com/office/drawing/2014/main" id="{485803BE-8879-6F42-8F74-0CEA01BEEC39}"/>
                </a:ext>
              </a:extLst>
            </p:cNvPr>
            <p:cNvSpPr/>
            <p:nvPr/>
          </p:nvSpPr>
          <p:spPr>
            <a:xfrm>
              <a:off x="4635437" y="372026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问题描述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33D801E-D7C0-C7B7-C69C-28A171D657F8}"/>
              </a:ext>
            </a:extLst>
          </p:cNvPr>
          <p:cNvGrpSpPr/>
          <p:nvPr/>
        </p:nvGrpSpPr>
        <p:grpSpPr>
          <a:xfrm>
            <a:off x="3695057" y="1722375"/>
            <a:ext cx="3775380" cy="714588"/>
            <a:chOff x="3695057" y="1775895"/>
            <a:chExt cx="4289558" cy="811909"/>
          </a:xfrm>
        </p:grpSpPr>
        <p:sp>
          <p:nvSpPr>
            <p:cNvPr id="9" name="圆角矩形 5">
              <a:extLst>
                <a:ext uri="{FF2B5EF4-FFF2-40B4-BE49-F238E27FC236}">
                  <a16:creationId xmlns:a16="http://schemas.microsoft.com/office/drawing/2014/main" id="{0C252401-6B8C-4723-CD91-8ED2B6D25E73}"/>
                </a:ext>
              </a:extLst>
            </p:cNvPr>
            <p:cNvSpPr/>
            <p:nvPr/>
          </p:nvSpPr>
          <p:spPr>
            <a:xfrm>
              <a:off x="3695057" y="1775895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02</a:t>
              </a:r>
              <a:endParaRPr lang="zh-CN" altLang="en-US" sz="2400" b="1"/>
            </a:p>
          </p:txBody>
        </p:sp>
        <p:sp>
          <p:nvSpPr>
            <p:cNvPr id="10" name="圆角矩形 59">
              <a:extLst>
                <a:ext uri="{FF2B5EF4-FFF2-40B4-BE49-F238E27FC236}">
                  <a16:creationId xmlns:a16="http://schemas.microsoft.com/office/drawing/2014/main" id="{7967BD37-E116-8E8A-06F3-A40CB61E15B4}"/>
                </a:ext>
              </a:extLst>
            </p:cNvPr>
            <p:cNvSpPr/>
            <p:nvPr/>
          </p:nvSpPr>
          <p:spPr>
            <a:xfrm>
              <a:off x="4635438" y="178925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问题分析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4429A0E-968C-C184-F195-BB17775607B5}"/>
              </a:ext>
            </a:extLst>
          </p:cNvPr>
          <p:cNvGrpSpPr/>
          <p:nvPr/>
        </p:nvGrpSpPr>
        <p:grpSpPr>
          <a:xfrm>
            <a:off x="3695057" y="2936802"/>
            <a:ext cx="3829962" cy="713015"/>
            <a:chOff x="3695057" y="3427722"/>
            <a:chExt cx="4289558" cy="798577"/>
          </a:xfrm>
        </p:grpSpPr>
        <p:sp>
          <p:nvSpPr>
            <p:cNvPr id="12" name="圆角矩形 6">
              <a:extLst>
                <a:ext uri="{FF2B5EF4-FFF2-40B4-BE49-F238E27FC236}">
                  <a16:creationId xmlns:a16="http://schemas.microsoft.com/office/drawing/2014/main" id="{894F0BF2-0B32-FD23-9340-86B6BB1F721B}"/>
                </a:ext>
              </a:extLst>
            </p:cNvPr>
            <p:cNvSpPr/>
            <p:nvPr/>
          </p:nvSpPr>
          <p:spPr>
            <a:xfrm>
              <a:off x="3695057" y="3427750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03</a:t>
              </a:r>
              <a:endParaRPr lang="zh-CN" altLang="en-US" sz="2400" b="1"/>
            </a:p>
          </p:txBody>
        </p:sp>
        <p:sp>
          <p:nvSpPr>
            <p:cNvPr id="13" name="圆角矩形 60">
              <a:extLst>
                <a:ext uri="{FF2B5EF4-FFF2-40B4-BE49-F238E27FC236}">
                  <a16:creationId xmlns:a16="http://schemas.microsoft.com/office/drawing/2014/main" id="{FBFCB69C-679C-39C9-0380-8B006A5FBA92}"/>
                </a:ext>
              </a:extLst>
            </p:cNvPr>
            <p:cNvSpPr/>
            <p:nvPr/>
          </p:nvSpPr>
          <p:spPr>
            <a:xfrm>
              <a:off x="4635438" y="3427722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定义方案</a:t>
              </a:r>
            </a:p>
          </p:txBody>
        </p:sp>
      </p:grpSp>
      <p:sp>
        <p:nvSpPr>
          <p:cNvPr id="16" name="圆角矩形 16">
            <a:extLst>
              <a:ext uri="{FF2B5EF4-FFF2-40B4-BE49-F238E27FC236}">
                <a16:creationId xmlns:a16="http://schemas.microsoft.com/office/drawing/2014/main" id="{5F7EE95C-960E-323F-0390-5C14C9C8FD39}"/>
              </a:ext>
            </a:extLst>
          </p:cNvPr>
          <p:cNvSpPr/>
          <p:nvPr/>
        </p:nvSpPr>
        <p:spPr>
          <a:xfrm>
            <a:off x="-1619563" y="2276475"/>
            <a:ext cx="4238884" cy="2305050"/>
          </a:xfrm>
          <a:prstGeom prst="roundRect">
            <a:avLst>
              <a:gd name="adj" fmla="val 50000"/>
            </a:avLst>
          </a:prstGeom>
          <a:solidFill>
            <a:srgbClr val="9CC5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圆角矩形 1">
            <a:extLst>
              <a:ext uri="{FF2B5EF4-FFF2-40B4-BE49-F238E27FC236}">
                <a16:creationId xmlns:a16="http://schemas.microsoft.com/office/drawing/2014/main" id="{550784C9-CBCC-8895-E167-9C3E0CC84074}"/>
              </a:ext>
            </a:extLst>
          </p:cNvPr>
          <p:cNvSpPr/>
          <p:nvPr/>
        </p:nvSpPr>
        <p:spPr>
          <a:xfrm>
            <a:off x="-1443598" y="2355989"/>
            <a:ext cx="3946438" cy="2146022"/>
          </a:xfrm>
          <a:prstGeom prst="roundRect">
            <a:avLst>
              <a:gd name="adj" fmla="val 50000"/>
            </a:avLst>
          </a:prstGeom>
          <a:solidFill>
            <a:srgbClr val="005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0050A5"/>
              </a:solidFill>
            </a:endParaRPr>
          </a:p>
        </p:txBody>
      </p:sp>
      <p:sp>
        <p:nvSpPr>
          <p:cNvPr id="18" name="TextBox 78">
            <a:extLst>
              <a:ext uri="{FF2B5EF4-FFF2-40B4-BE49-F238E27FC236}">
                <a16:creationId xmlns:a16="http://schemas.microsoft.com/office/drawing/2014/main" id="{12DA5A98-F385-5C4A-2AAA-B38FA8C07F00}"/>
              </a:ext>
            </a:extLst>
          </p:cNvPr>
          <p:cNvSpPr txBox="1"/>
          <p:nvPr/>
        </p:nvSpPr>
        <p:spPr>
          <a:xfrm>
            <a:off x="125119" y="3657218"/>
            <a:ext cx="159370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999" b="1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CONTENTS</a:t>
            </a:r>
            <a:endParaRPr lang="zh-CN" altLang="en-US" sz="1999" b="1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19" name="TextBox 79">
            <a:extLst>
              <a:ext uri="{FF2B5EF4-FFF2-40B4-BE49-F238E27FC236}">
                <a16:creationId xmlns:a16="http://schemas.microsoft.com/office/drawing/2014/main" id="{34021180-7045-671B-659D-429F32A73EB3}"/>
              </a:ext>
            </a:extLst>
          </p:cNvPr>
          <p:cNvSpPr txBox="1"/>
          <p:nvPr/>
        </p:nvSpPr>
        <p:spPr>
          <a:xfrm>
            <a:off x="181224" y="2865131"/>
            <a:ext cx="1481496" cy="769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399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目 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7193772-5B4B-1E1A-DFCC-BF2036B13782}"/>
              </a:ext>
            </a:extLst>
          </p:cNvPr>
          <p:cNvGrpSpPr/>
          <p:nvPr/>
        </p:nvGrpSpPr>
        <p:grpSpPr>
          <a:xfrm>
            <a:off x="3695056" y="4149656"/>
            <a:ext cx="3830096" cy="713040"/>
            <a:chOff x="3695056" y="4950575"/>
            <a:chExt cx="4289558" cy="798577"/>
          </a:xfrm>
        </p:grpSpPr>
        <p:sp>
          <p:nvSpPr>
            <p:cNvPr id="23" name="圆角矩形 6">
              <a:extLst>
                <a:ext uri="{FF2B5EF4-FFF2-40B4-BE49-F238E27FC236}">
                  <a16:creationId xmlns:a16="http://schemas.microsoft.com/office/drawing/2014/main" id="{AF45AA50-1FBC-0D02-6831-625D23EDDEB0}"/>
                </a:ext>
              </a:extLst>
            </p:cNvPr>
            <p:cNvSpPr/>
            <p:nvPr/>
          </p:nvSpPr>
          <p:spPr>
            <a:xfrm>
              <a:off x="3695056" y="4950603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04</a:t>
              </a:r>
              <a:endParaRPr lang="zh-CN" altLang="en-US" sz="2400" b="1"/>
            </a:p>
          </p:txBody>
        </p:sp>
        <p:sp>
          <p:nvSpPr>
            <p:cNvPr id="24" name="圆角矩形 60">
              <a:extLst>
                <a:ext uri="{FF2B5EF4-FFF2-40B4-BE49-F238E27FC236}">
                  <a16:creationId xmlns:a16="http://schemas.microsoft.com/office/drawing/2014/main" id="{B6E444A1-FFE7-E0DB-F82C-E8D441112ED7}"/>
                </a:ext>
              </a:extLst>
            </p:cNvPr>
            <p:cNvSpPr/>
            <p:nvPr/>
          </p:nvSpPr>
          <p:spPr>
            <a:xfrm>
              <a:off x="4635437" y="495057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/>
                <a:t>方案验证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05DEC9B-70C7-B139-F49A-00FFF7561313}"/>
              </a:ext>
            </a:extLst>
          </p:cNvPr>
          <p:cNvGrpSpPr/>
          <p:nvPr/>
        </p:nvGrpSpPr>
        <p:grpSpPr>
          <a:xfrm>
            <a:off x="3730539" y="5362536"/>
            <a:ext cx="3830091" cy="713039"/>
            <a:chOff x="3730539" y="5862445"/>
            <a:chExt cx="4289558" cy="798577"/>
          </a:xfrm>
        </p:grpSpPr>
        <p:sp>
          <p:nvSpPr>
            <p:cNvPr id="25" name="圆角矩形 6">
              <a:extLst>
                <a:ext uri="{FF2B5EF4-FFF2-40B4-BE49-F238E27FC236}">
                  <a16:creationId xmlns:a16="http://schemas.microsoft.com/office/drawing/2014/main" id="{1B5FD29B-2D56-6EA4-2EEE-4FD78CFB38C1}"/>
                </a:ext>
              </a:extLst>
            </p:cNvPr>
            <p:cNvSpPr/>
            <p:nvPr/>
          </p:nvSpPr>
          <p:spPr>
            <a:xfrm>
              <a:off x="3730539" y="5862473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05</a:t>
              </a:r>
              <a:endParaRPr lang="zh-CN" altLang="en-US" sz="2400" b="1"/>
            </a:p>
          </p:txBody>
        </p:sp>
        <p:sp>
          <p:nvSpPr>
            <p:cNvPr id="26" name="圆角矩形 60">
              <a:extLst>
                <a:ext uri="{FF2B5EF4-FFF2-40B4-BE49-F238E27FC236}">
                  <a16:creationId xmlns:a16="http://schemas.microsoft.com/office/drawing/2014/main" id="{0F87BA47-2A66-074F-57B0-1B0336666F3F}"/>
                </a:ext>
              </a:extLst>
            </p:cNvPr>
            <p:cNvSpPr/>
            <p:nvPr/>
          </p:nvSpPr>
          <p:spPr>
            <a:xfrm>
              <a:off x="4670920" y="586244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/>
                <a:t>总结</a:t>
              </a:r>
              <a:r>
                <a:rPr lang="en-US" altLang="zh-CN" sz="3200" b="1"/>
                <a:t>&amp;</a:t>
              </a:r>
              <a:r>
                <a:rPr lang="zh-CN" altLang="en-US" sz="3200" b="1"/>
                <a:t>启发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0536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2095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Part.01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</a:p>
        </p:txBody>
      </p:sp>
    </p:spTree>
    <p:extLst>
      <p:ext uri="{BB962C8B-B14F-4D97-AF65-F5344CB8AC3E}">
        <p14:creationId xmlns:p14="http://schemas.microsoft.com/office/powerpoint/2010/main" val="4600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C69EBC-8AEA-EFBD-3324-5DF2B6AB60F8}"/>
              </a:ext>
            </a:extLst>
          </p:cNvPr>
          <p:cNvSpPr/>
          <p:nvPr/>
        </p:nvSpPr>
        <p:spPr bwMode="auto">
          <a:xfrm>
            <a:off x="225437" y="1645028"/>
            <a:ext cx="2700000" cy="4475547"/>
          </a:xfrm>
          <a:prstGeom prst="roundRect">
            <a:avLst>
              <a:gd name="adj" fmla="val 4088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+mn-lt"/>
              </a:rPr>
              <a:t>产品</a:t>
            </a:r>
            <a:r>
              <a:rPr lang="en-US" altLang="zh-CN" b="1">
                <a:solidFill>
                  <a:schemeClr val="tx1"/>
                </a:solidFill>
                <a:latin typeface="+mn-lt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85 CD 0 gap V+/AV PPS</a:t>
            </a: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+mn-lt"/>
              </a:rPr>
              <a:t>时间：</a:t>
            </a:r>
            <a:endParaRPr lang="en-US" altLang="zh-CN" b="1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2025/10/23</a:t>
            </a: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+mn-lt"/>
              </a:rPr>
              <a:t>条件：</a:t>
            </a:r>
            <a:endParaRPr lang="en-US" altLang="zh-CN" b="1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AT32</a:t>
            </a:r>
            <a:r>
              <a:rPr lang="zh-CN" altLang="en-US">
                <a:solidFill>
                  <a:schemeClr val="tx1"/>
                </a:solidFill>
                <a:latin typeface="+mn-lt"/>
              </a:rPr>
              <a:t>℃</a:t>
            </a:r>
            <a:endParaRPr lang="en-US" altLang="zh-CN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Set: 4/-17</a:t>
            </a: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+mn-lt"/>
              </a:rPr>
              <a:t>软件：</a:t>
            </a:r>
            <a:endParaRPr lang="en-US" altLang="zh-CN" b="1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1.2.0.2 14th</a:t>
            </a: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+mn-lt"/>
              </a:rPr>
              <a:t>频率</a:t>
            </a:r>
            <a:endParaRPr lang="en-US" altLang="zh-CN" b="1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lt"/>
              </a:rPr>
              <a:t>2/3</a:t>
            </a:r>
            <a:r>
              <a:rPr lang="zh-CN" altLang="en-US">
                <a:solidFill>
                  <a:schemeClr val="tx1"/>
                </a:solidFill>
                <a:latin typeface="+mn-lt"/>
              </a:rPr>
              <a:t>台，</a:t>
            </a:r>
            <a:r>
              <a:rPr lang="en-US" altLang="zh-CN">
                <a:solidFill>
                  <a:schemeClr val="tx1"/>
                </a:solidFill>
                <a:latin typeface="+mn-lt"/>
              </a:rPr>
              <a:t>1times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 bwMode="auto">
          <a:xfrm>
            <a:off x="65764" y="433231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en-US" sz="2800" b="1" kern="0">
                <a:solidFill>
                  <a:srgbClr val="0050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.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问题描述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50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圆角矩形 6">
            <a:extLst>
              <a:ext uri="{FF2B5EF4-FFF2-40B4-BE49-F238E27FC236}">
                <a16:creationId xmlns:a16="http://schemas.microsoft.com/office/drawing/2014/main" id="{F9A3BCA1-4271-4119-D519-7AF193A35A46}"/>
              </a:ext>
            </a:extLst>
          </p:cNvPr>
          <p:cNvSpPr/>
          <p:nvPr/>
        </p:nvSpPr>
        <p:spPr>
          <a:xfrm>
            <a:off x="791877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背 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899986-D08E-3CC1-5927-AC3F270B0B21}"/>
              </a:ext>
            </a:extLst>
          </p:cNvPr>
          <p:cNvSpPr/>
          <p:nvPr/>
        </p:nvSpPr>
        <p:spPr bwMode="auto">
          <a:xfrm>
            <a:off x="3285437" y="1645028"/>
            <a:ext cx="2700000" cy="4475547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0000"/>
              </a:lnSpc>
            </a:pPr>
            <a:endParaRPr lang="en-US" altLang="zh-CN" sz="2000" b="1">
              <a:latin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2A21DB6-71D1-79F1-380B-8C7FA9CEB927}"/>
              </a:ext>
            </a:extLst>
          </p:cNvPr>
          <p:cNvSpPr/>
          <p:nvPr/>
        </p:nvSpPr>
        <p:spPr bwMode="auto">
          <a:xfrm>
            <a:off x="6255437" y="1645028"/>
            <a:ext cx="2700000" cy="4475547"/>
          </a:xfrm>
          <a:prstGeom prst="roundRect">
            <a:avLst>
              <a:gd name="adj" fmla="val 318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0000"/>
              </a:lnSpc>
            </a:pPr>
            <a:endParaRPr lang="en-US" altLang="zh-CN" sz="2000" b="1">
              <a:latin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CC120B5-7325-9EED-B0EC-E1DD15653397}"/>
              </a:ext>
            </a:extLst>
          </p:cNvPr>
          <p:cNvSpPr txBox="1"/>
          <p:nvPr/>
        </p:nvSpPr>
        <p:spPr>
          <a:xfrm>
            <a:off x="6297805" y="1737360"/>
            <a:ext cx="25831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just"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Load</a:t>
            </a:r>
            <a:r>
              <a:rPr lang="zh-CN" altLang="en-US"/>
              <a:t>后比</a:t>
            </a:r>
            <a:r>
              <a:rPr lang="en-US" altLang="zh-CN"/>
              <a:t>load</a:t>
            </a:r>
            <a:r>
              <a:rPr lang="zh-CN" altLang="en-US"/>
              <a:t>前高</a:t>
            </a:r>
            <a:r>
              <a:rPr lang="en-US" altLang="zh-CN"/>
              <a:t>1.2K</a:t>
            </a:r>
            <a:r>
              <a:rPr lang="zh-CN" altLang="en-US"/>
              <a:t>，</a:t>
            </a:r>
            <a:r>
              <a:rPr lang="en-US" altLang="zh-CN"/>
              <a:t>Load</a:t>
            </a:r>
            <a:r>
              <a:rPr lang="zh-CN" altLang="en-US"/>
              <a:t>后</a:t>
            </a:r>
            <a:r>
              <a:rPr lang="en-US" altLang="zh-CN"/>
              <a:t>senser </a:t>
            </a:r>
            <a:r>
              <a:rPr lang="zh-CN" altLang="en-US"/>
              <a:t>温度与间室温度之间的</a:t>
            </a:r>
            <a:r>
              <a:rPr lang="en-US" altLang="zh-CN"/>
              <a:t>gap</a:t>
            </a:r>
            <a:r>
              <a:rPr lang="zh-CN" altLang="en-US"/>
              <a:t>变小，</a:t>
            </a:r>
            <a:r>
              <a:rPr lang="en-US" altLang="zh-CN"/>
              <a:t>load</a:t>
            </a:r>
            <a:r>
              <a:rPr lang="zh-CN" altLang="en-US"/>
              <a:t>前压缩机没有停机而</a:t>
            </a:r>
            <a:r>
              <a:rPr lang="en-US" altLang="zh-CN"/>
              <a:t>load</a:t>
            </a:r>
            <a:r>
              <a:rPr lang="zh-CN" altLang="en-US"/>
              <a:t>后压缩机出现停机，</a:t>
            </a:r>
            <a:r>
              <a:rPr lang="en-US" altLang="zh-CN"/>
              <a:t>load</a:t>
            </a:r>
            <a:r>
              <a:rPr lang="zh-CN" altLang="en-US"/>
              <a:t>后压缩机的转速也高于转载之前。</a:t>
            </a:r>
            <a:endParaRPr lang="en-US" altLang="zh-CN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B9D9308-EA25-0791-7F1C-F0C26DC1ADBA}"/>
              </a:ext>
            </a:extLst>
          </p:cNvPr>
          <p:cNvGrpSpPr/>
          <p:nvPr/>
        </p:nvGrpSpPr>
        <p:grpSpPr>
          <a:xfrm>
            <a:off x="6470320" y="3302669"/>
            <a:ext cx="2410602" cy="2673761"/>
            <a:chOff x="6297805" y="2667102"/>
            <a:chExt cx="2927632" cy="3247234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16880931-FE77-52EC-AF1B-6C55FE004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5253" t="4586" r="21313" b="13737"/>
            <a:stretch/>
          </p:blipFill>
          <p:spPr>
            <a:xfrm>
              <a:off x="6300437" y="2667102"/>
              <a:ext cx="2582302" cy="3163928"/>
            </a:xfrm>
            <a:prstGeom prst="rect">
              <a:avLst/>
            </a:prstGeom>
            <a:noFill/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349518B-7663-53E8-5D5E-03F1732F27C4}"/>
                </a:ext>
              </a:extLst>
            </p:cNvPr>
            <p:cNvSpPr txBox="1"/>
            <p:nvPr/>
          </p:nvSpPr>
          <p:spPr>
            <a:xfrm>
              <a:off x="6297805" y="5652726"/>
              <a:ext cx="8508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-18.8</a:t>
              </a:r>
              <a:r>
                <a:rPr lang="zh-CN" altLang="en-US" sz="1100"/>
                <a:t>℃</a:t>
              </a:r>
              <a:endParaRPr lang="en-US" sz="110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2F06518-AB25-8966-EBFF-5929D42CBFB2}"/>
                </a:ext>
              </a:extLst>
            </p:cNvPr>
            <p:cNvSpPr txBox="1"/>
            <p:nvPr/>
          </p:nvSpPr>
          <p:spPr>
            <a:xfrm>
              <a:off x="8374609" y="5611138"/>
              <a:ext cx="8508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-17.6</a:t>
              </a:r>
              <a:r>
                <a:rPr lang="zh-CN" altLang="en-US" sz="1100"/>
                <a:t>℃</a:t>
              </a:r>
              <a:endParaRPr lang="en-US" sz="110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5F914700-6D74-B4D7-0CB1-E0CF2578605B}"/>
              </a:ext>
            </a:extLst>
          </p:cNvPr>
          <p:cNvSpPr txBox="1"/>
          <p:nvPr/>
        </p:nvSpPr>
        <p:spPr>
          <a:xfrm>
            <a:off x="3293317" y="1755575"/>
            <a:ext cx="2692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前后温差小于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前后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Senser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温度与间室温度之间的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gap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一致，压缩机的转速和开停机一致。</a:t>
            </a:r>
            <a:endParaRPr 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D2BCCF9-90A7-44F2-BCAA-656DFE452D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411"/>
          <a:stretch/>
        </p:blipFill>
        <p:spPr>
          <a:xfrm>
            <a:off x="3511999" y="2798731"/>
            <a:ext cx="2246876" cy="3220168"/>
          </a:xfrm>
          <a:prstGeom prst="rect">
            <a:avLst/>
          </a:prstGeom>
        </p:spPr>
      </p:pic>
      <p:sp>
        <p:nvSpPr>
          <p:cNvPr id="18" name="圆角矩形 6">
            <a:extLst>
              <a:ext uri="{FF2B5EF4-FFF2-40B4-BE49-F238E27FC236}">
                <a16:creationId xmlns:a16="http://schemas.microsoft.com/office/drawing/2014/main" id="{34545130-2745-D557-45C9-4173684D56A4}"/>
              </a:ext>
            </a:extLst>
          </p:cNvPr>
          <p:cNvSpPr/>
          <p:nvPr/>
        </p:nvSpPr>
        <p:spPr>
          <a:xfrm>
            <a:off x="3818339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预 期</a:t>
            </a:r>
          </a:p>
        </p:txBody>
      </p:sp>
      <p:sp>
        <p:nvSpPr>
          <p:cNvPr id="19" name="圆角矩形 6">
            <a:extLst>
              <a:ext uri="{FF2B5EF4-FFF2-40B4-BE49-F238E27FC236}">
                <a16:creationId xmlns:a16="http://schemas.microsoft.com/office/drawing/2014/main" id="{A26794DF-C3E7-64DE-73E9-8140CD3D1887}"/>
              </a:ext>
            </a:extLst>
          </p:cNvPr>
          <p:cNvSpPr/>
          <p:nvPr/>
        </p:nvSpPr>
        <p:spPr>
          <a:xfrm>
            <a:off x="6827735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实 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Part.02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6950" y="1014358"/>
            <a:ext cx="2338487" cy="3603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影响因素鱼骨图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86D0AE6-0FD4-0F6C-5DA5-7263692C1981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CE7F67F-0089-81A1-BC94-CCFB8DFA3F2A}"/>
              </a:ext>
            </a:extLst>
          </p:cNvPr>
          <p:cNvCxnSpPr>
            <a:cxnSpLocks/>
          </p:cNvCxnSpPr>
          <p:nvPr/>
        </p:nvCxnSpPr>
        <p:spPr bwMode="auto">
          <a:xfrm>
            <a:off x="585437" y="3600575"/>
            <a:ext cx="7699610" cy="1057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3CCEF8-25C1-BF60-2992-44F7926FB9D3}"/>
              </a:ext>
            </a:extLst>
          </p:cNvPr>
          <p:cNvCxnSpPr/>
          <p:nvPr/>
        </p:nvCxnSpPr>
        <p:spPr bwMode="auto">
          <a:xfrm>
            <a:off x="2272937" y="2295575"/>
            <a:ext cx="1215000" cy="130500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9358A68-B7D3-A572-6595-BA41A608BB23}"/>
              </a:ext>
            </a:extLst>
          </p:cNvPr>
          <p:cNvCxnSpPr/>
          <p:nvPr/>
        </p:nvCxnSpPr>
        <p:spPr bwMode="auto">
          <a:xfrm>
            <a:off x="5220437" y="2295575"/>
            <a:ext cx="1215000" cy="1305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781BA29-E1E7-7983-A33C-9C5E153F3F05}"/>
              </a:ext>
            </a:extLst>
          </p:cNvPr>
          <p:cNvCxnSpPr/>
          <p:nvPr/>
        </p:nvCxnSpPr>
        <p:spPr bwMode="auto">
          <a:xfrm flipH="1">
            <a:off x="1348924" y="3590001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11AC009-87F5-2269-3345-48B45F57442E}"/>
              </a:ext>
            </a:extLst>
          </p:cNvPr>
          <p:cNvCxnSpPr/>
          <p:nvPr/>
        </p:nvCxnSpPr>
        <p:spPr bwMode="auto">
          <a:xfrm flipH="1">
            <a:off x="4138924" y="3590001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2C3C568-FB35-62F6-911E-61D7D42DB1D0}"/>
              </a:ext>
            </a:extLst>
          </p:cNvPr>
          <p:cNvCxnSpPr/>
          <p:nvPr/>
        </p:nvCxnSpPr>
        <p:spPr bwMode="auto">
          <a:xfrm flipH="1">
            <a:off x="6795437" y="3611150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B404524-09AC-3936-D317-AF0976AE7376}"/>
              </a:ext>
            </a:extLst>
          </p:cNvPr>
          <p:cNvSpPr txBox="1"/>
          <p:nvPr/>
        </p:nvSpPr>
        <p:spPr>
          <a:xfrm>
            <a:off x="2025437" y="1957020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人</a:t>
            </a:r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709ED9-B603-7789-C8B6-5B233ACD9167}"/>
              </a:ext>
            </a:extLst>
          </p:cNvPr>
          <p:cNvSpPr txBox="1"/>
          <p:nvPr/>
        </p:nvSpPr>
        <p:spPr>
          <a:xfrm>
            <a:off x="4995437" y="1969243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机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7AD99C-4C1C-EC48-20AF-8842966EE5FD}"/>
              </a:ext>
            </a:extLst>
          </p:cNvPr>
          <p:cNvSpPr txBox="1"/>
          <p:nvPr/>
        </p:nvSpPr>
        <p:spPr>
          <a:xfrm>
            <a:off x="1125437" y="4770575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料</a:t>
            </a:r>
            <a:endParaRPr 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4410FA-EA9D-8318-6DF5-9C0579F0BA05}"/>
              </a:ext>
            </a:extLst>
          </p:cNvPr>
          <p:cNvSpPr txBox="1"/>
          <p:nvPr/>
        </p:nvSpPr>
        <p:spPr>
          <a:xfrm>
            <a:off x="3915437" y="4770575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法</a:t>
            </a:r>
            <a:endParaRPr 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0A9EA6-108D-9A58-4F8C-FE3E5CB96BC0}"/>
              </a:ext>
            </a:extLst>
          </p:cNvPr>
          <p:cNvSpPr txBox="1"/>
          <p:nvPr/>
        </p:nvSpPr>
        <p:spPr>
          <a:xfrm>
            <a:off x="6570437" y="4760001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环</a:t>
            </a:r>
            <a:endParaRPr 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07DC5D-827C-FCBF-7F18-E2FB19EE45D7}"/>
              </a:ext>
            </a:extLst>
          </p:cNvPr>
          <p:cNvSpPr txBox="1"/>
          <p:nvPr/>
        </p:nvSpPr>
        <p:spPr>
          <a:xfrm>
            <a:off x="1486823" y="2655575"/>
            <a:ext cx="112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测试人员操作</a:t>
            </a:r>
            <a:endParaRPr lang="en-US" sz="110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A07C40B-94F2-B6D2-DF17-FCB8C861330E}"/>
              </a:ext>
            </a:extLst>
          </p:cNvPr>
          <p:cNvCxnSpPr>
            <a:cxnSpLocks/>
            <a:endCxn id="26" idx="1"/>
          </p:cNvCxnSpPr>
          <p:nvPr/>
        </p:nvCxnSpPr>
        <p:spPr bwMode="auto">
          <a:xfrm>
            <a:off x="5322541" y="2434073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9A8B081-4612-3FDF-52C7-DE5373D2167A}"/>
              </a:ext>
            </a:extLst>
          </p:cNvPr>
          <p:cNvSpPr txBox="1"/>
          <p:nvPr/>
        </p:nvSpPr>
        <p:spPr>
          <a:xfrm>
            <a:off x="5606157" y="2295574"/>
            <a:ext cx="1877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抽屉位置（周围间隙大）</a:t>
            </a:r>
            <a:endParaRPr lang="en-US" sz="12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27BB241-513F-425A-DF5B-ABA18C4CD59E}"/>
              </a:ext>
            </a:extLst>
          </p:cNvPr>
          <p:cNvSpPr txBox="1"/>
          <p:nvPr/>
        </p:nvSpPr>
        <p:spPr>
          <a:xfrm>
            <a:off x="3721790" y="2482585"/>
            <a:ext cx="1600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导轨设计（取消导轨）</a:t>
            </a:r>
            <a:endParaRPr lang="en-US" sz="12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787EA5C-0F5F-6A29-2B48-460EC5A5EFBE}"/>
              </a:ext>
            </a:extLst>
          </p:cNvPr>
          <p:cNvSpPr txBox="1"/>
          <p:nvPr/>
        </p:nvSpPr>
        <p:spPr>
          <a:xfrm>
            <a:off x="5833632" y="2624280"/>
            <a:ext cx="2993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控制参数（风扇和压机转速、停机温度等）</a:t>
            </a:r>
            <a:endParaRPr lang="en-US" sz="12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5F9DEFC-06AF-4276-5B49-B2EFBD080BED}"/>
              </a:ext>
            </a:extLst>
          </p:cNvPr>
          <p:cNvSpPr txBox="1"/>
          <p:nvPr/>
        </p:nvSpPr>
        <p:spPr>
          <a:xfrm>
            <a:off x="4725437" y="2835575"/>
            <a:ext cx="967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蒸发器结霜</a:t>
            </a:r>
            <a:endParaRPr lang="en-US" sz="12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E4C1842-9815-CAEB-001C-C26AF0E07718}"/>
              </a:ext>
            </a:extLst>
          </p:cNvPr>
          <p:cNvSpPr txBox="1"/>
          <p:nvPr/>
        </p:nvSpPr>
        <p:spPr>
          <a:xfrm>
            <a:off x="6276415" y="2996805"/>
            <a:ext cx="1383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风道设计（流场）</a:t>
            </a:r>
            <a:endParaRPr lang="en-US" sz="12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29A8000-971A-B2AE-C060-0B1DBD22971A}"/>
              </a:ext>
            </a:extLst>
          </p:cNvPr>
          <p:cNvSpPr txBox="1"/>
          <p:nvPr/>
        </p:nvSpPr>
        <p:spPr>
          <a:xfrm>
            <a:off x="5038924" y="3258026"/>
            <a:ext cx="1059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传感器位置</a:t>
            </a:r>
            <a:endParaRPr lang="en-US" sz="12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064C8D9-9484-5699-6801-CF1ED08AA626}"/>
              </a:ext>
            </a:extLst>
          </p:cNvPr>
          <p:cNvSpPr txBox="1"/>
          <p:nvPr/>
        </p:nvSpPr>
        <p:spPr>
          <a:xfrm>
            <a:off x="1223417" y="3736720"/>
            <a:ext cx="688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热电偶</a:t>
            </a:r>
            <a:endParaRPr lang="en-US" sz="11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3DFB6D5-0480-168D-C82B-244537F8E86A}"/>
              </a:ext>
            </a:extLst>
          </p:cNvPr>
          <p:cNvSpPr txBox="1"/>
          <p:nvPr/>
        </p:nvSpPr>
        <p:spPr>
          <a:xfrm>
            <a:off x="504372" y="4310762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传感器材料</a:t>
            </a:r>
            <a:endParaRPr lang="en-US" sz="11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056B290-2B2C-ABC5-4245-84E2D1C1F4DA}"/>
              </a:ext>
            </a:extLst>
          </p:cNvPr>
          <p:cNvSpPr txBox="1"/>
          <p:nvPr/>
        </p:nvSpPr>
        <p:spPr>
          <a:xfrm>
            <a:off x="1994053" y="4118707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抽屉材料</a:t>
            </a:r>
            <a:endParaRPr lang="en-US" sz="110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C7E0AA2-76B6-E6E9-B79F-48DC37DF49BB}"/>
              </a:ext>
            </a:extLst>
          </p:cNvPr>
          <p:cNvCxnSpPr>
            <a:cxnSpLocks/>
          </p:cNvCxnSpPr>
          <p:nvPr/>
        </p:nvCxnSpPr>
        <p:spPr bwMode="auto">
          <a:xfrm>
            <a:off x="5260181" y="2621083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D6C3552-246C-FB9B-6077-4589FD11B9F3}"/>
              </a:ext>
            </a:extLst>
          </p:cNvPr>
          <p:cNvCxnSpPr>
            <a:cxnSpLocks/>
          </p:cNvCxnSpPr>
          <p:nvPr/>
        </p:nvCxnSpPr>
        <p:spPr bwMode="auto">
          <a:xfrm>
            <a:off x="5649489" y="2739207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C7FB521-7CAA-EC03-C884-D6C1DE8EA3FE}"/>
              </a:ext>
            </a:extLst>
          </p:cNvPr>
          <p:cNvCxnSpPr>
            <a:cxnSpLocks/>
          </p:cNvCxnSpPr>
          <p:nvPr/>
        </p:nvCxnSpPr>
        <p:spPr bwMode="auto">
          <a:xfrm>
            <a:off x="5590835" y="2972526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99E63B5-AC97-B78E-6A44-AAA172DDF098}"/>
              </a:ext>
            </a:extLst>
          </p:cNvPr>
          <p:cNvCxnSpPr>
            <a:cxnSpLocks/>
          </p:cNvCxnSpPr>
          <p:nvPr/>
        </p:nvCxnSpPr>
        <p:spPr bwMode="auto">
          <a:xfrm>
            <a:off x="5995021" y="3145279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C7CD181-8698-781B-FFAD-1FE5C67C6ACD}"/>
              </a:ext>
            </a:extLst>
          </p:cNvPr>
          <p:cNvCxnSpPr>
            <a:cxnSpLocks/>
          </p:cNvCxnSpPr>
          <p:nvPr/>
        </p:nvCxnSpPr>
        <p:spPr bwMode="auto">
          <a:xfrm>
            <a:off x="5924970" y="3376344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4F33801-AA6F-41AE-88DC-480F6DFA0292}"/>
              </a:ext>
            </a:extLst>
          </p:cNvPr>
          <p:cNvCxnSpPr>
            <a:cxnSpLocks/>
          </p:cNvCxnSpPr>
          <p:nvPr/>
        </p:nvCxnSpPr>
        <p:spPr bwMode="auto">
          <a:xfrm>
            <a:off x="2444887" y="2768942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A5ABA85-97DB-5743-EF88-F1BBBEC71790}"/>
              </a:ext>
            </a:extLst>
          </p:cNvPr>
          <p:cNvCxnSpPr>
            <a:cxnSpLocks/>
          </p:cNvCxnSpPr>
          <p:nvPr/>
        </p:nvCxnSpPr>
        <p:spPr bwMode="auto">
          <a:xfrm>
            <a:off x="1755437" y="3859640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D59434B-22D3-EE05-AED0-21D39DE9F20F}"/>
              </a:ext>
            </a:extLst>
          </p:cNvPr>
          <p:cNvCxnSpPr>
            <a:cxnSpLocks/>
          </p:cNvCxnSpPr>
          <p:nvPr/>
        </p:nvCxnSpPr>
        <p:spPr bwMode="auto">
          <a:xfrm>
            <a:off x="1756591" y="4249512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46720D4-CE47-6B98-34EC-8F03A095A2EC}"/>
              </a:ext>
            </a:extLst>
          </p:cNvPr>
          <p:cNvCxnSpPr>
            <a:cxnSpLocks/>
          </p:cNvCxnSpPr>
          <p:nvPr/>
        </p:nvCxnSpPr>
        <p:spPr bwMode="auto">
          <a:xfrm>
            <a:off x="1330939" y="4433607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3DAD2E7F-85D8-9FE8-9E08-1788BD9D95DC}"/>
              </a:ext>
            </a:extLst>
          </p:cNvPr>
          <p:cNvSpPr txBox="1"/>
          <p:nvPr/>
        </p:nvSpPr>
        <p:spPr>
          <a:xfrm>
            <a:off x="3801937" y="3780575"/>
            <a:ext cx="83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试验方法</a:t>
            </a:r>
            <a:endParaRPr lang="en-US" sz="11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ECA2AD5-8067-6701-AEB6-190EB3BF3D54}"/>
              </a:ext>
            </a:extLst>
          </p:cNvPr>
          <p:cNvSpPr txBox="1"/>
          <p:nvPr/>
        </p:nvSpPr>
        <p:spPr>
          <a:xfrm>
            <a:off x="4770437" y="4162562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操作手册</a:t>
            </a:r>
            <a:endParaRPr lang="en-US" sz="110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0E03646-B94C-5F8F-B2A1-A4DC1871238E}"/>
              </a:ext>
            </a:extLst>
          </p:cNvPr>
          <p:cNvCxnSpPr>
            <a:cxnSpLocks/>
          </p:cNvCxnSpPr>
          <p:nvPr/>
        </p:nvCxnSpPr>
        <p:spPr bwMode="auto">
          <a:xfrm>
            <a:off x="4531821" y="3903495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E66CB11-35FD-54F1-630A-14CAF5F0AC67}"/>
              </a:ext>
            </a:extLst>
          </p:cNvPr>
          <p:cNvCxnSpPr>
            <a:cxnSpLocks/>
          </p:cNvCxnSpPr>
          <p:nvPr/>
        </p:nvCxnSpPr>
        <p:spPr bwMode="auto">
          <a:xfrm>
            <a:off x="4532975" y="4293367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960F69F-7019-A3EF-0A9F-BE3B57C8DD7A}"/>
              </a:ext>
            </a:extLst>
          </p:cNvPr>
          <p:cNvSpPr txBox="1"/>
          <p:nvPr/>
        </p:nvSpPr>
        <p:spPr>
          <a:xfrm>
            <a:off x="6480437" y="3824292"/>
            <a:ext cx="777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测试工位</a:t>
            </a:r>
            <a:endParaRPr lang="en-US" sz="11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A6715E5-5A88-6349-DFF0-22ACFF5E6DEE}"/>
              </a:ext>
            </a:extLst>
          </p:cNvPr>
          <p:cNvSpPr txBox="1"/>
          <p:nvPr/>
        </p:nvSpPr>
        <p:spPr>
          <a:xfrm>
            <a:off x="7385047" y="4206279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环境温湿度</a:t>
            </a:r>
            <a:endParaRPr lang="en-US" sz="110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5235E59-9CC5-5526-ECED-535B77F37F0F}"/>
              </a:ext>
            </a:extLst>
          </p:cNvPr>
          <p:cNvCxnSpPr>
            <a:cxnSpLocks/>
          </p:cNvCxnSpPr>
          <p:nvPr/>
        </p:nvCxnSpPr>
        <p:spPr bwMode="auto">
          <a:xfrm>
            <a:off x="7146431" y="3947212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C4156DA-4BC4-817C-EE50-27A4A55DA70B}"/>
              </a:ext>
            </a:extLst>
          </p:cNvPr>
          <p:cNvCxnSpPr>
            <a:cxnSpLocks/>
          </p:cNvCxnSpPr>
          <p:nvPr/>
        </p:nvCxnSpPr>
        <p:spPr bwMode="auto">
          <a:xfrm>
            <a:off x="7147585" y="4337084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159B05CF-211D-A800-953C-13D01E90DC74}"/>
              </a:ext>
            </a:extLst>
          </p:cNvPr>
          <p:cNvCxnSpPr>
            <a:cxnSpLocks/>
            <a:endCxn id="75" idx="1"/>
          </p:cNvCxnSpPr>
          <p:nvPr/>
        </p:nvCxnSpPr>
        <p:spPr bwMode="auto">
          <a:xfrm>
            <a:off x="2429477" y="2482584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594BDD7E-4B0B-05F0-DA02-1D9A83A7F7B6}"/>
              </a:ext>
            </a:extLst>
          </p:cNvPr>
          <p:cNvSpPr txBox="1"/>
          <p:nvPr/>
        </p:nvSpPr>
        <p:spPr>
          <a:xfrm>
            <a:off x="2713093" y="2344085"/>
            <a:ext cx="1877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项目人员设计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EC6D-6BB6-1CEC-53C4-2DEB8C2C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8A6D0-1E0C-3805-2211-DDA65614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0" y="1014358"/>
            <a:ext cx="2113487" cy="3603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主要影响因素</a:t>
            </a:r>
            <a:endParaRPr lang="de-DE"/>
          </a:p>
        </p:txBody>
      </p:sp>
      <p:sp>
        <p:nvSpPr>
          <p:cNvPr id="5" name="Abgerundetes Rechteck 5">
            <a:extLst>
              <a:ext uri="{FF2B5EF4-FFF2-40B4-BE49-F238E27FC236}">
                <a16:creationId xmlns:a16="http://schemas.microsoft.com/office/drawing/2014/main" id="{D1A66D8C-AC32-60B9-F244-3BC018345CF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1908" y="1408771"/>
            <a:ext cx="3870000" cy="1260000"/>
          </a:xfrm>
          <a:prstGeom prst="roundRect">
            <a:avLst>
              <a:gd name="adj" fmla="val 11138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zh-CN" altLang="en-US" sz="1400">
                <a:solidFill>
                  <a:srgbClr val="FF0000"/>
                </a:solidFill>
                <a:latin typeface="+mn-lt"/>
              </a:rPr>
              <a:t>软件问题：</a:t>
            </a:r>
            <a:endParaRPr lang="en-US" altLang="zh-CN" sz="140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(1)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压缩机停机温度设置太高，导致压缩机装载后温度还没有降下来时就出现了停机。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(2)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压缩机初始转速设置过高，导致装载后压缩机出现频繁停机。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1454A6B-2198-A109-358E-54025A7C3CBF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6A02201-86BB-A1D0-1C70-872607A9EB2E}"/>
              </a:ext>
            </a:extLst>
          </p:cNvPr>
          <p:cNvGrpSpPr/>
          <p:nvPr/>
        </p:nvGrpSpPr>
        <p:grpSpPr>
          <a:xfrm>
            <a:off x="4088528" y="1112742"/>
            <a:ext cx="5310438" cy="5053196"/>
            <a:chOff x="4185437" y="1170575"/>
            <a:chExt cx="5310438" cy="505319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3E2DB8F-6B00-184C-0AFE-35540E1B8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5437" y="1170575"/>
              <a:ext cx="5310438" cy="5053196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828C93E-8AAF-5D20-0A5F-5063AF6D6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5437" y="1351327"/>
              <a:ext cx="466300" cy="1438586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F5918A92-2F8A-675A-4B14-21DE49DFB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248" y="1400938"/>
              <a:ext cx="762484" cy="462749"/>
            </a:xfrm>
            <a:prstGeom prst="rect">
              <a:avLst/>
            </a:prstGeom>
          </p:spPr>
        </p:pic>
      </p:grpSp>
      <p:sp>
        <p:nvSpPr>
          <p:cNvPr id="32" name="Abgerundetes Rechteck 5">
            <a:extLst>
              <a:ext uri="{FF2B5EF4-FFF2-40B4-BE49-F238E27FC236}">
                <a16:creationId xmlns:a16="http://schemas.microsoft.com/office/drawing/2014/main" id="{83D38A65-178F-05B1-E62D-C696EAA5D93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41908" y="2828631"/>
            <a:ext cx="3870001" cy="2327498"/>
          </a:xfrm>
          <a:prstGeom prst="roundRect">
            <a:avLst>
              <a:gd name="adj" fmla="val 6305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>
                <a:solidFill>
                  <a:srgbClr val="FF0000"/>
                </a:solidFill>
                <a:latin typeface="+mn-lt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+mn-lt"/>
              </a:rPr>
              <a:t>硬件问题：</a:t>
            </a:r>
            <a:endParaRPr lang="en-US" altLang="zh-CN" sz="140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(1)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冰箱冷冻室的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位置在底层抽屉后边，装载前后抽屉位置不同时，经过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的风量分配变化，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的温度就会不同。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(2)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冰箱抽屉取消导轨后，前后左右可活动的位置变大，无法限位，会导致风场不同，经过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的风量分配不同。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(3)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取消了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上方的挡风条，导致经过</a:t>
            </a:r>
            <a:r>
              <a:rPr lang="en-US" altLang="zh-CN" sz="1400">
                <a:solidFill>
                  <a:schemeClr val="tx1"/>
                </a:solidFill>
                <a:latin typeface="+mn-lt"/>
              </a:rPr>
              <a:t>Senser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的风量依赖于抽屉的位置。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altLang="zh-CN" sz="1400">
                <a:solidFill>
                  <a:schemeClr val="tx1"/>
                </a:solidFill>
                <a:latin typeface="+mn-lt"/>
              </a:rPr>
              <a:t>(4)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冷冻室中墙取消，会影响抽屉限位。</a:t>
            </a:r>
            <a:endParaRPr lang="en-US" sz="1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Abgerundetes Rechteck 5">
            <a:extLst>
              <a:ext uri="{FF2B5EF4-FFF2-40B4-BE49-F238E27FC236}">
                <a16:creationId xmlns:a16="http://schemas.microsoft.com/office/drawing/2014/main" id="{84BA6D49-3245-EF62-F554-5A5D9EBB381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908" y="5315989"/>
            <a:ext cx="3870000" cy="855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zh-CN" altLang="en-US" sz="1400">
                <a:solidFill>
                  <a:srgbClr val="FF0000"/>
                </a:solidFill>
                <a:latin typeface="+mn-lt"/>
              </a:rPr>
              <a:t>测试问题：</a:t>
            </a:r>
            <a:endParaRPr lang="en-US" altLang="zh-CN" sz="140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zh-CN" altLang="en-US" sz="1400">
                <a:solidFill>
                  <a:schemeClr val="tx1"/>
                </a:solidFill>
                <a:latin typeface="+mn-lt"/>
              </a:rPr>
              <a:t>装载前后，测试人员没有将抽屉推到同一个位置。</a:t>
            </a:r>
            <a:endParaRPr lang="en-US" altLang="zh-CN" sz="14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077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FC3B-8A0C-3401-92C6-D9A25D56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BFB4D-C749-D035-CD8F-9DDF5BE4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03" y="996974"/>
            <a:ext cx="1798488" cy="360363"/>
          </a:xfr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问题机制</a:t>
            </a:r>
            <a:endParaRPr lang="de-DE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DF7752E-3C12-6C47-51F3-B44241EA1A8C}"/>
              </a:ext>
            </a:extLst>
          </p:cNvPr>
          <p:cNvGrpSpPr/>
          <p:nvPr/>
        </p:nvGrpSpPr>
        <p:grpSpPr>
          <a:xfrm>
            <a:off x="4185437" y="1170575"/>
            <a:ext cx="5310438" cy="5053196"/>
            <a:chOff x="4185437" y="1170575"/>
            <a:chExt cx="5310438" cy="5053196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D0436DB-CB3A-A61E-BA3F-A11C8911A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5437" y="1170575"/>
              <a:ext cx="5310438" cy="505319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9854C6E-7D71-7C83-B196-D803BAAF4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5437" y="1351327"/>
              <a:ext cx="466300" cy="143858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E3C7E10-E138-6408-223F-1F6CC2314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72248" y="1400938"/>
              <a:ext cx="762484" cy="462749"/>
            </a:xfrm>
            <a:prstGeom prst="rect">
              <a:avLst/>
            </a:prstGeom>
          </p:spPr>
        </p:pic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0099BF4-3F37-04AB-AA10-982504787068}"/>
              </a:ext>
            </a:extLst>
          </p:cNvPr>
          <p:cNvCxnSpPr>
            <a:cxnSpLocks/>
            <a:stCxn id="16" idx="2"/>
          </p:cNvCxnSpPr>
          <p:nvPr/>
        </p:nvCxnSpPr>
        <p:spPr bwMode="auto">
          <a:xfrm flipH="1">
            <a:off x="4995437" y="4893444"/>
            <a:ext cx="256595" cy="327131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650ED70-4EE4-28B5-FA76-DFCCECA1A245}"/>
              </a:ext>
            </a:extLst>
          </p:cNvPr>
          <p:cNvSpPr txBox="1"/>
          <p:nvPr/>
        </p:nvSpPr>
        <p:spPr>
          <a:xfrm>
            <a:off x="4455437" y="4616445"/>
            <a:ext cx="1593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highlight>
                  <a:srgbClr val="FFFF00"/>
                </a:highlight>
              </a:rPr>
              <a:t>装载前</a:t>
            </a:r>
            <a:r>
              <a:rPr lang="en-US" altLang="zh-CN" sz="1200">
                <a:highlight>
                  <a:srgbClr val="FFFF00"/>
                </a:highlight>
              </a:rPr>
              <a:t>senser</a:t>
            </a:r>
            <a:r>
              <a:rPr lang="zh-CN" altLang="en-US" sz="1200">
                <a:highlight>
                  <a:srgbClr val="FFFF00"/>
                </a:highlight>
              </a:rPr>
              <a:t>不敏感</a:t>
            </a:r>
            <a:endParaRPr lang="en-US" sz="1200">
              <a:highlight>
                <a:srgbClr val="FFFF00"/>
              </a:highlight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587AA29-3592-A73B-8934-4C9669BF98AD}"/>
              </a:ext>
            </a:extLst>
          </p:cNvPr>
          <p:cNvCxnSpPr/>
          <p:nvPr/>
        </p:nvCxnSpPr>
        <p:spPr bwMode="auto">
          <a:xfrm flipV="1">
            <a:off x="8235437" y="5220575"/>
            <a:ext cx="225000" cy="437074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EDC03D0-D23D-764C-ACA1-BE6731B6D202}"/>
              </a:ext>
            </a:extLst>
          </p:cNvPr>
          <p:cNvSpPr txBox="1"/>
          <p:nvPr/>
        </p:nvSpPr>
        <p:spPr>
          <a:xfrm>
            <a:off x="7551342" y="5610224"/>
            <a:ext cx="1593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highlight>
                  <a:srgbClr val="FFFF00"/>
                </a:highlight>
              </a:rPr>
              <a:t>装载后</a:t>
            </a:r>
            <a:r>
              <a:rPr lang="en-US" altLang="zh-CN" sz="1200">
                <a:highlight>
                  <a:srgbClr val="FFFF00"/>
                </a:highlight>
              </a:rPr>
              <a:t>senser</a:t>
            </a:r>
            <a:r>
              <a:rPr lang="zh-CN" altLang="en-US" sz="1200">
                <a:highlight>
                  <a:srgbClr val="FFFF00"/>
                </a:highlight>
              </a:rPr>
              <a:t>敏感</a:t>
            </a:r>
            <a:endParaRPr lang="en-US" sz="1200">
              <a:highlight>
                <a:srgbClr val="FFFF00"/>
              </a:highlight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1BF93F-ACBC-DD55-07EF-612899D64E0B}"/>
              </a:ext>
            </a:extLst>
          </p:cNvPr>
          <p:cNvSpPr txBox="1"/>
          <p:nvPr/>
        </p:nvSpPr>
        <p:spPr>
          <a:xfrm>
            <a:off x="7830437" y="3619746"/>
            <a:ext cx="189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highlight>
                  <a:srgbClr val="FFFF00"/>
                </a:highlight>
              </a:rPr>
              <a:t>装载后压缩机转速更高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出现停机</a:t>
            </a:r>
            <a:endParaRPr lang="en-US" sz="1200">
              <a:highlight>
                <a:srgbClr val="FFFF00"/>
              </a:highlight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533D59E-BDB5-7EB7-50B8-79F19A522E5C}"/>
              </a:ext>
            </a:extLst>
          </p:cNvPr>
          <p:cNvCxnSpPr>
            <a:cxnSpLocks/>
          </p:cNvCxnSpPr>
          <p:nvPr/>
        </p:nvCxnSpPr>
        <p:spPr bwMode="auto">
          <a:xfrm>
            <a:off x="4095437" y="4105100"/>
            <a:ext cx="5445438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6D164804-85DB-7639-C78C-A4710F429024}"/>
              </a:ext>
            </a:extLst>
          </p:cNvPr>
          <p:cNvSpPr txBox="1"/>
          <p:nvPr/>
        </p:nvSpPr>
        <p:spPr>
          <a:xfrm>
            <a:off x="5517286" y="5627154"/>
            <a:ext cx="189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highlight>
                  <a:srgbClr val="FFFF00"/>
                </a:highlight>
              </a:rPr>
              <a:t>温度还没有降低到装载前的温度时压缩机就停机了</a:t>
            </a:r>
            <a:endParaRPr lang="en-US" sz="1200">
              <a:highlight>
                <a:srgbClr val="FFFF00"/>
              </a:highlight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84D56ED-5C0B-B443-EC11-F9E2637CFE53}"/>
              </a:ext>
            </a:extLst>
          </p:cNvPr>
          <p:cNvCxnSpPr>
            <a:cxnSpLocks/>
          </p:cNvCxnSpPr>
          <p:nvPr/>
        </p:nvCxnSpPr>
        <p:spPr bwMode="auto">
          <a:xfrm flipV="1">
            <a:off x="6318627" y="4500575"/>
            <a:ext cx="184361" cy="112657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EC24BC6-F569-C66F-DF23-7453522245D7}"/>
              </a:ext>
            </a:extLst>
          </p:cNvPr>
          <p:cNvCxnSpPr>
            <a:cxnSpLocks/>
          </p:cNvCxnSpPr>
          <p:nvPr/>
        </p:nvCxnSpPr>
        <p:spPr bwMode="auto">
          <a:xfrm flipH="1">
            <a:off x="8595437" y="3850578"/>
            <a:ext cx="90000" cy="23083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0DEE050-F093-C53F-FE0C-B951E04F6003}"/>
              </a:ext>
            </a:extLst>
          </p:cNvPr>
          <p:cNvCxnSpPr/>
          <p:nvPr/>
        </p:nvCxnSpPr>
        <p:spPr bwMode="auto">
          <a:xfrm flipV="1">
            <a:off x="6318627" y="5310575"/>
            <a:ext cx="184361" cy="29964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EA7D644-A20B-0158-C8C6-3A68AFC86D98}"/>
              </a:ext>
            </a:extLst>
          </p:cNvPr>
          <p:cNvSpPr txBox="1"/>
          <p:nvPr/>
        </p:nvSpPr>
        <p:spPr>
          <a:xfrm>
            <a:off x="4644447" y="5316650"/>
            <a:ext cx="99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-18.8</a:t>
            </a:r>
            <a:r>
              <a:rPr lang="zh-CN" altLang="en-US" sz="1200"/>
              <a:t>℃</a:t>
            </a:r>
            <a:endParaRPr lang="en-US" sz="12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4B0EADC-3CE0-4423-756E-642434C11284}"/>
              </a:ext>
            </a:extLst>
          </p:cNvPr>
          <p:cNvSpPr txBox="1"/>
          <p:nvPr/>
        </p:nvSpPr>
        <p:spPr>
          <a:xfrm>
            <a:off x="8547700" y="5251226"/>
            <a:ext cx="99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-17.6</a:t>
            </a:r>
            <a:r>
              <a:rPr lang="zh-CN" altLang="en-US" sz="1200"/>
              <a:t>℃</a:t>
            </a:r>
            <a:endParaRPr lang="en-US" sz="1200"/>
          </a:p>
        </p:txBody>
      </p:sp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805D1B09-F66D-414B-BB1A-5F34C3C7C746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18177" y="1391087"/>
            <a:ext cx="3638688" cy="1987876"/>
          </a:xfrm>
          <a:prstGeom prst="roundRect">
            <a:avLst>
              <a:gd name="adj" fmla="val 11004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装载前：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传感器与间室存在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3.3K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温差装载前通过传感器的风量较少，传感器不敏感，和间室之前的温度差值大，当间室温度为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-18.8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度时，传感器的温度为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-15.5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度，而压缩机的停机温度设置为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-16.5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度，这个时候压缩机不会出现停机。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284CE746-5B65-43BF-CF5C-8D6B21534A6B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sp>
        <p:nvSpPr>
          <p:cNvPr id="26" name="Abgerundetes Rechteck 5">
            <a:extLst>
              <a:ext uri="{FF2B5EF4-FFF2-40B4-BE49-F238E27FC236}">
                <a16:creationId xmlns:a16="http://schemas.microsoft.com/office/drawing/2014/main" id="{6C392C4B-2BE1-3624-2A9B-10D3D7B6A8C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18177" y="3446463"/>
            <a:ext cx="3638688" cy="2809112"/>
          </a:xfrm>
          <a:prstGeom prst="roundRect">
            <a:avLst>
              <a:gd name="adj" fmla="val 8114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装载后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传感器与间室仅存在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1.1K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温差，通过传感器的风量变多，传感器很敏感，和间室之间的温差值变小，当传感器感受到的温度低于压缩机停机温度时压缩机就出现停机，而这个时候间室的温度还没有降低到装载之前的温度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装载后，间室内温度为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-17.6℃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，而传感器温度为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-16.5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度，这个时候压缩机就会停机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，装载后，温度达到了新的平衡点，无法会回归到装载前的稳定状态。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CD9597-0838-6C7A-784E-A03E684BBD21}"/>
              </a:ext>
            </a:extLst>
          </p:cNvPr>
          <p:cNvSpPr txBox="1"/>
          <p:nvPr/>
        </p:nvSpPr>
        <p:spPr>
          <a:xfrm>
            <a:off x="5035726" y="5004321"/>
            <a:ext cx="99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-15.5</a:t>
            </a:r>
            <a:r>
              <a:rPr lang="zh-CN" altLang="en-US" sz="1200"/>
              <a:t>℃</a:t>
            </a:r>
            <a:endParaRPr lang="en-US" sz="12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83C601-0F2F-076C-F7C0-8790A3BB00DB}"/>
              </a:ext>
            </a:extLst>
          </p:cNvPr>
          <p:cNvSpPr txBox="1"/>
          <p:nvPr/>
        </p:nvSpPr>
        <p:spPr>
          <a:xfrm>
            <a:off x="8505859" y="5007874"/>
            <a:ext cx="99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-16.5</a:t>
            </a:r>
            <a:r>
              <a:rPr lang="zh-CN" altLang="en-US" sz="1200"/>
              <a:t>℃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3260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B563-6D19-DA66-2507-408C3B8B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F59F0-C88B-B21B-15C9-2F1DBDB3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1079500"/>
            <a:ext cx="1809959" cy="360363"/>
          </a:xfr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问题复现</a:t>
            </a:r>
            <a:endParaRPr lang="de-DE"/>
          </a:p>
        </p:txBody>
      </p:sp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572EE502-9706-A9CD-661A-13D9AB28BA5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15437" y="1477701"/>
            <a:ext cx="4454997" cy="360364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en-US" altLang="zh-CN" sz="1400" b="1">
              <a:solidFill>
                <a:srgbClr val="FF0000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70BFB06-7033-FC68-9294-6AB7826EE2F3}"/>
              </a:ext>
            </a:extLst>
          </p:cNvPr>
          <p:cNvGrpSpPr/>
          <p:nvPr/>
        </p:nvGrpSpPr>
        <p:grpSpPr>
          <a:xfrm>
            <a:off x="323734" y="2250575"/>
            <a:ext cx="3800266" cy="1307780"/>
            <a:chOff x="323734" y="2649564"/>
            <a:chExt cx="3800266" cy="1307780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CA879A30-D92C-DBAE-433C-3548F9C05508}"/>
                </a:ext>
              </a:extLst>
            </p:cNvPr>
            <p:cNvGrpSpPr/>
            <p:nvPr/>
          </p:nvGrpSpPr>
          <p:grpSpPr>
            <a:xfrm>
              <a:off x="323734" y="2652344"/>
              <a:ext cx="1845000" cy="1305000"/>
              <a:chOff x="270437" y="2655575"/>
              <a:chExt cx="2203938" cy="1578708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5A07073-BAC5-87EF-669E-B2F4A3E55FE3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FF35C46-1FC5-239A-6F24-944689880BD6}"/>
                  </a:ext>
                </a:extLst>
              </p:cNvPr>
              <p:cNvSpPr/>
              <p:nvPr/>
            </p:nvSpPr>
            <p:spPr>
              <a:xfrm>
                <a:off x="626038" y="2804612"/>
                <a:ext cx="1836616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94CF757-2B0D-88D3-0777-490EC8834619}"/>
                </a:ext>
              </a:extLst>
            </p:cNvPr>
            <p:cNvSpPr/>
            <p:nvPr/>
          </p:nvSpPr>
          <p:spPr bwMode="auto">
            <a:xfrm>
              <a:off x="2168734" y="2649564"/>
              <a:ext cx="90640" cy="1305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4F26B5F-9D5C-7253-E2BB-65D6AD83BAEA}"/>
                </a:ext>
              </a:extLst>
            </p:cNvPr>
            <p:cNvGrpSpPr/>
            <p:nvPr/>
          </p:nvGrpSpPr>
          <p:grpSpPr>
            <a:xfrm>
              <a:off x="2269188" y="2652344"/>
              <a:ext cx="1854812" cy="1305000"/>
              <a:chOff x="258716" y="2655575"/>
              <a:chExt cx="2215659" cy="1578708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E698966-26B2-55E3-AC00-CA2C936FB32C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BAB7BC45-B189-9C9F-DED5-E2F87EE98558}"/>
                  </a:ext>
                </a:extLst>
              </p:cNvPr>
              <p:cNvSpPr/>
              <p:nvPr/>
            </p:nvSpPr>
            <p:spPr>
              <a:xfrm>
                <a:off x="258716" y="2839103"/>
                <a:ext cx="1836615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73EB7A1-5C87-FF7E-47A3-975EF17BDB94}"/>
                </a:ext>
              </a:extLst>
            </p:cNvPr>
            <p:cNvSpPr txBox="1"/>
            <p:nvPr/>
          </p:nvSpPr>
          <p:spPr>
            <a:xfrm>
              <a:off x="919108" y="3132787"/>
              <a:ext cx="94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>
                  <a:latin typeface="楷体" panose="02010609060101010101" pitchFamily="49" charset="-122"/>
                  <a:ea typeface="楷体" panose="02010609060101010101" pitchFamily="49" charset="-122"/>
                </a:rPr>
                <a:t>左抽屉</a:t>
              </a:r>
              <a:endParaRPr lang="en-US" sz="1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E72A277-B8A7-DED3-18DE-9F2FE004E613}"/>
                </a:ext>
              </a:extLst>
            </p:cNvPr>
            <p:cNvSpPr txBox="1"/>
            <p:nvPr/>
          </p:nvSpPr>
          <p:spPr>
            <a:xfrm>
              <a:off x="2542935" y="3161298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右抽屉</a:t>
              </a:r>
              <a:endParaRPr 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1F72565-C07D-71B8-944D-1C7190981B13}"/>
              </a:ext>
            </a:extLst>
          </p:cNvPr>
          <p:cNvGrpSpPr/>
          <p:nvPr/>
        </p:nvGrpSpPr>
        <p:grpSpPr>
          <a:xfrm>
            <a:off x="4678924" y="2250575"/>
            <a:ext cx="3800266" cy="1307780"/>
            <a:chOff x="323734" y="2649564"/>
            <a:chExt cx="3800266" cy="130778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02842166-3573-672E-4844-C88CDEAF4515}"/>
                </a:ext>
              </a:extLst>
            </p:cNvPr>
            <p:cNvGrpSpPr/>
            <p:nvPr/>
          </p:nvGrpSpPr>
          <p:grpSpPr>
            <a:xfrm>
              <a:off x="323734" y="2652344"/>
              <a:ext cx="1845000" cy="1305000"/>
              <a:chOff x="270437" y="2655575"/>
              <a:chExt cx="2203938" cy="1578708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46126AB-FFDF-5D90-6502-97F39669F022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414D127-88A2-FC79-4C78-7BFCAC2380A3}"/>
                  </a:ext>
                </a:extLst>
              </p:cNvPr>
              <p:cNvSpPr/>
              <p:nvPr/>
            </p:nvSpPr>
            <p:spPr>
              <a:xfrm>
                <a:off x="276980" y="2839103"/>
                <a:ext cx="1836616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F4ED5AA5-01E3-A89A-6234-DD911E27726E}"/>
                </a:ext>
              </a:extLst>
            </p:cNvPr>
            <p:cNvSpPr/>
            <p:nvPr/>
          </p:nvSpPr>
          <p:spPr bwMode="auto">
            <a:xfrm>
              <a:off x="2168734" y="2649564"/>
              <a:ext cx="90640" cy="1305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B7604F9-73ED-AC2F-FB2F-3240D74F476D}"/>
                </a:ext>
              </a:extLst>
            </p:cNvPr>
            <p:cNvGrpSpPr/>
            <p:nvPr/>
          </p:nvGrpSpPr>
          <p:grpSpPr>
            <a:xfrm>
              <a:off x="2279000" y="2652344"/>
              <a:ext cx="1845000" cy="1305000"/>
              <a:chOff x="270437" y="2655575"/>
              <a:chExt cx="2203938" cy="1578708"/>
            </a:xfrm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5984EF38-8D58-1217-78FB-5BCA1617DF6B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5546B8D8-EEF9-DC83-C19D-033A7901D196}"/>
                  </a:ext>
                </a:extLst>
              </p:cNvPr>
              <p:cNvSpPr/>
              <p:nvPr/>
            </p:nvSpPr>
            <p:spPr>
              <a:xfrm>
                <a:off x="637760" y="2839103"/>
                <a:ext cx="1836615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5C58354-7991-048C-DE6F-D25820202E69}"/>
                </a:ext>
              </a:extLst>
            </p:cNvPr>
            <p:cNvSpPr txBox="1"/>
            <p:nvPr/>
          </p:nvSpPr>
          <p:spPr>
            <a:xfrm>
              <a:off x="626898" y="3161298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左抽屉</a:t>
              </a:r>
              <a:endParaRPr 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A93E18F-70EB-9028-EC8D-90EFA4555B2F}"/>
                </a:ext>
              </a:extLst>
            </p:cNvPr>
            <p:cNvSpPr txBox="1"/>
            <p:nvPr/>
          </p:nvSpPr>
          <p:spPr>
            <a:xfrm>
              <a:off x="2860247" y="3161298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右抽屉</a:t>
              </a:r>
              <a:endParaRPr 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9B131D-E55C-8A2E-EDEB-06A121275233}"/>
              </a:ext>
            </a:extLst>
          </p:cNvPr>
          <p:cNvGrpSpPr/>
          <p:nvPr/>
        </p:nvGrpSpPr>
        <p:grpSpPr>
          <a:xfrm>
            <a:off x="323734" y="4253343"/>
            <a:ext cx="3800266" cy="1307781"/>
            <a:chOff x="323734" y="2649564"/>
            <a:chExt cx="3800266" cy="1307781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212EF45-F4C5-4873-9B62-CE1B7771D286}"/>
                </a:ext>
              </a:extLst>
            </p:cNvPr>
            <p:cNvGrpSpPr/>
            <p:nvPr/>
          </p:nvGrpSpPr>
          <p:grpSpPr>
            <a:xfrm>
              <a:off x="323734" y="2652345"/>
              <a:ext cx="1845000" cy="1305000"/>
              <a:chOff x="270437" y="2655575"/>
              <a:chExt cx="2203938" cy="1578708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5070FC43-848B-4F79-7F26-245F140A19F7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024AB5CB-0CC7-489C-7851-479EB3BF285C}"/>
                  </a:ext>
                </a:extLst>
              </p:cNvPr>
              <p:cNvSpPr/>
              <p:nvPr/>
            </p:nvSpPr>
            <p:spPr>
              <a:xfrm>
                <a:off x="475544" y="2661541"/>
                <a:ext cx="1836616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9253B44-05AC-C953-62A5-54134537B6B9}"/>
                </a:ext>
              </a:extLst>
            </p:cNvPr>
            <p:cNvSpPr/>
            <p:nvPr/>
          </p:nvSpPr>
          <p:spPr bwMode="auto">
            <a:xfrm>
              <a:off x="2168734" y="2649564"/>
              <a:ext cx="90640" cy="1305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10AAF00C-4CD5-330C-635B-5B11B0DC1655}"/>
                </a:ext>
              </a:extLst>
            </p:cNvPr>
            <p:cNvGrpSpPr/>
            <p:nvPr/>
          </p:nvGrpSpPr>
          <p:grpSpPr>
            <a:xfrm>
              <a:off x="2279000" y="2652344"/>
              <a:ext cx="1845000" cy="1305000"/>
              <a:chOff x="270437" y="2655575"/>
              <a:chExt cx="2203938" cy="1578708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AD8203A1-37EF-8875-9842-556D76F08AA8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65D85510-699E-F04C-0327-1A37029C3497}"/>
                  </a:ext>
                </a:extLst>
              </p:cNvPr>
              <p:cNvSpPr/>
              <p:nvPr/>
            </p:nvSpPr>
            <p:spPr>
              <a:xfrm>
                <a:off x="442376" y="2659159"/>
                <a:ext cx="1836615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B2A9662C-E736-D385-CD5E-140CE1333AC7}"/>
                </a:ext>
              </a:extLst>
            </p:cNvPr>
            <p:cNvSpPr txBox="1"/>
            <p:nvPr/>
          </p:nvSpPr>
          <p:spPr>
            <a:xfrm>
              <a:off x="793124" y="3014521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左抽屉</a:t>
              </a:r>
              <a:endParaRPr lang="en-US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56B390FA-F295-792D-CFA3-B4DBC7F09724}"/>
                </a:ext>
              </a:extLst>
            </p:cNvPr>
            <p:cNvSpPr txBox="1"/>
            <p:nvPr/>
          </p:nvSpPr>
          <p:spPr>
            <a:xfrm>
              <a:off x="2696684" y="3012552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右抽屉</a:t>
              </a:r>
              <a:endParaRPr 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7259F3F0-A785-ABEA-ACF4-4010E0FAA40A}"/>
              </a:ext>
            </a:extLst>
          </p:cNvPr>
          <p:cNvGrpSpPr/>
          <p:nvPr/>
        </p:nvGrpSpPr>
        <p:grpSpPr>
          <a:xfrm>
            <a:off x="4678924" y="4300994"/>
            <a:ext cx="3800266" cy="1324582"/>
            <a:chOff x="323734" y="2649564"/>
            <a:chExt cx="3800266" cy="1324582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03E28F62-BA8D-99BC-CDFB-4A682E53CF5B}"/>
                </a:ext>
              </a:extLst>
            </p:cNvPr>
            <p:cNvGrpSpPr/>
            <p:nvPr/>
          </p:nvGrpSpPr>
          <p:grpSpPr>
            <a:xfrm>
              <a:off x="323734" y="2652346"/>
              <a:ext cx="1845000" cy="1321800"/>
              <a:chOff x="270437" y="2655575"/>
              <a:chExt cx="2203938" cy="1599031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4E621F7F-2754-2800-D7D8-640ACDE47A90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78D0F093-E6B5-FB8E-FEC9-527DC9E94F00}"/>
                  </a:ext>
                </a:extLst>
              </p:cNvPr>
              <p:cNvSpPr/>
              <p:nvPr/>
            </p:nvSpPr>
            <p:spPr>
              <a:xfrm>
                <a:off x="475544" y="2980699"/>
                <a:ext cx="1836616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6E5A7589-AE80-CD48-B510-2ADF1F8C3293}"/>
                </a:ext>
              </a:extLst>
            </p:cNvPr>
            <p:cNvSpPr/>
            <p:nvPr/>
          </p:nvSpPr>
          <p:spPr bwMode="auto">
            <a:xfrm>
              <a:off x="2168734" y="2649564"/>
              <a:ext cx="90640" cy="1305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3AFF163C-2A5F-4573-F278-E27DE3BBE80F}"/>
                </a:ext>
              </a:extLst>
            </p:cNvPr>
            <p:cNvGrpSpPr/>
            <p:nvPr/>
          </p:nvGrpSpPr>
          <p:grpSpPr>
            <a:xfrm>
              <a:off x="2279000" y="2652343"/>
              <a:ext cx="1845000" cy="1319830"/>
              <a:chOff x="270437" y="2655575"/>
              <a:chExt cx="2203938" cy="1596649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168AD49B-22B7-1220-5E0E-01A207A7F92B}"/>
                  </a:ext>
                </a:extLst>
              </p:cNvPr>
              <p:cNvSpPr/>
              <p:nvPr/>
            </p:nvSpPr>
            <p:spPr>
              <a:xfrm>
                <a:off x="270437" y="2655575"/>
                <a:ext cx="2203938" cy="157870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D002145C-6987-C445-3F8B-780152996003}"/>
                  </a:ext>
                </a:extLst>
              </p:cNvPr>
              <p:cNvSpPr/>
              <p:nvPr/>
            </p:nvSpPr>
            <p:spPr>
              <a:xfrm>
                <a:off x="442376" y="2978317"/>
                <a:ext cx="1836615" cy="127390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BAD252C-AE79-99B0-9B54-288842AC2093}"/>
                </a:ext>
              </a:extLst>
            </p:cNvPr>
            <p:cNvSpPr txBox="1"/>
            <p:nvPr/>
          </p:nvSpPr>
          <p:spPr>
            <a:xfrm>
              <a:off x="793124" y="3278345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左抽屉</a:t>
              </a:r>
              <a:endParaRPr lang="en-US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1DD882C6-4556-1153-96CB-C554FDD03345}"/>
                </a:ext>
              </a:extLst>
            </p:cNvPr>
            <p:cNvSpPr txBox="1"/>
            <p:nvPr/>
          </p:nvSpPr>
          <p:spPr>
            <a:xfrm>
              <a:off x="2696684" y="3276376"/>
              <a:ext cx="942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800"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/>
                <a:t>右抽屉</a:t>
              </a:r>
              <a:endParaRPr lang="en-US"/>
            </a:p>
          </p:txBody>
        </p:sp>
      </p:grp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2FB8968-F963-6DCD-78F8-80D848E732CD}"/>
              </a:ext>
            </a:extLst>
          </p:cNvPr>
          <p:cNvSpPr txBox="1"/>
          <p:nvPr/>
        </p:nvSpPr>
        <p:spPr>
          <a:xfrm>
            <a:off x="315436" y="1516517"/>
            <a:ext cx="577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通过前后左右移动抽屉，来实现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senser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处的不同风场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891ACC1-229C-455A-F9A1-BFC4FA83ADF2}"/>
              </a:ext>
            </a:extLst>
          </p:cNvPr>
          <p:cNvSpPr txBox="1"/>
          <p:nvPr/>
        </p:nvSpPr>
        <p:spPr>
          <a:xfrm>
            <a:off x="1215436" y="3633784"/>
            <a:ext cx="2031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抽屉尽量靠近中间</a:t>
            </a:r>
            <a:endParaRPr 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3AC294E-0C3B-FBFB-C95F-F061762552F0}"/>
              </a:ext>
            </a:extLst>
          </p:cNvPr>
          <p:cNvSpPr txBox="1"/>
          <p:nvPr/>
        </p:nvSpPr>
        <p:spPr>
          <a:xfrm>
            <a:off x="5445437" y="3633784"/>
            <a:ext cx="2241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/>
              <a:t>b.</a:t>
            </a:r>
            <a:r>
              <a:rPr lang="zh-CN" altLang="en-US"/>
              <a:t>抽屉尽量靠近两侧</a:t>
            </a:r>
            <a:endParaRPr 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8139921-59B7-E2C2-EC94-F5E58E064216}"/>
              </a:ext>
            </a:extLst>
          </p:cNvPr>
          <p:cNvSpPr txBox="1"/>
          <p:nvPr/>
        </p:nvSpPr>
        <p:spPr>
          <a:xfrm>
            <a:off x="1311500" y="5619083"/>
            <a:ext cx="193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/>
              <a:t>c.</a:t>
            </a:r>
            <a:r>
              <a:rPr lang="zh-CN" altLang="en-US"/>
              <a:t>抽屉尽量往里推</a:t>
            </a:r>
            <a:endParaRPr 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1E6D755-8070-A745-41A4-F37439FC03E1}"/>
              </a:ext>
            </a:extLst>
          </p:cNvPr>
          <p:cNvSpPr txBox="1"/>
          <p:nvPr/>
        </p:nvSpPr>
        <p:spPr>
          <a:xfrm>
            <a:off x="5632198" y="5619083"/>
            <a:ext cx="193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/>
              <a:t>d.</a:t>
            </a:r>
            <a:r>
              <a:rPr lang="zh-CN" altLang="en-US"/>
              <a:t>抽屉尽量往外拉</a:t>
            </a:r>
            <a:endParaRPr lang="en-US"/>
          </a:p>
        </p:txBody>
      </p:sp>
      <p:sp>
        <p:nvSpPr>
          <p:cNvPr id="51" name="Titel 1">
            <a:extLst>
              <a:ext uri="{FF2B5EF4-FFF2-40B4-BE49-F238E27FC236}">
                <a16:creationId xmlns:a16="http://schemas.microsoft.com/office/drawing/2014/main" id="{3D69A7CC-9884-A24C-4EB9-A78077000A2E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4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C4E4-CFCD-75AD-53E4-F44A58C5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D9487D85-02AC-D0AD-7692-C63783E00A1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15438" y="1477700"/>
            <a:ext cx="3638688" cy="99787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软件原因：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压缩机停机温度设置值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(-16.5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℃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偏高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压缩机初始转速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(1400rpm)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偏高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Abgerundetes Rechteck 5">
            <a:extLst>
              <a:ext uri="{FF2B5EF4-FFF2-40B4-BE49-F238E27FC236}">
                <a16:creationId xmlns:a16="http://schemas.microsoft.com/office/drawing/2014/main" id="{0A88E34F-BD7E-7368-5AA4-21DA06435AD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25249" y="2962700"/>
            <a:ext cx="3638688" cy="99787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硬件原因：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抽屉没有限位，装载前后位置无法保证一致，导致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Senser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处的风场不一致。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bgerundetes Rechteck 5">
            <a:extLst>
              <a:ext uri="{FF2B5EF4-FFF2-40B4-BE49-F238E27FC236}">
                <a16:creationId xmlns:a16="http://schemas.microsoft.com/office/drawing/2014/main" id="{F3D71020-5871-940A-A95E-9ACDAC4F8C0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15437" y="4401165"/>
            <a:ext cx="3638688" cy="104441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测试原因：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装载前后抽屉不在同一个位置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50ABF38-68C6-74EB-06AB-0E67693FE2A6}"/>
              </a:ext>
            </a:extLst>
          </p:cNvPr>
          <p:cNvGrpSpPr/>
          <p:nvPr/>
        </p:nvGrpSpPr>
        <p:grpSpPr>
          <a:xfrm>
            <a:off x="4095437" y="1618425"/>
            <a:ext cx="5310000" cy="4695902"/>
            <a:chOff x="4050437" y="2205393"/>
            <a:chExt cx="5490438" cy="410232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C94A425-8552-53EE-0488-6C9A7157B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0437" y="2205393"/>
              <a:ext cx="2834761" cy="3779681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8B7F4E2-1F00-5091-E8DB-71DB99D60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6114" y="2205393"/>
              <a:ext cx="2834761" cy="3779681"/>
            </a:xfrm>
            <a:prstGeom prst="rect">
              <a:avLst/>
            </a:prstGeom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6733E4B-B5D3-4CDF-F638-93346994E621}"/>
                </a:ext>
              </a:extLst>
            </p:cNvPr>
            <p:cNvCxnSpPr/>
            <p:nvPr/>
          </p:nvCxnSpPr>
          <p:spPr bwMode="auto">
            <a:xfrm flipH="1" flipV="1">
              <a:off x="5805437" y="5625575"/>
              <a:ext cx="405000" cy="495000"/>
            </a:xfrm>
            <a:prstGeom prst="straightConnector1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7A9BBFC-EE62-BD6A-3F3A-8306FE2E27F4}"/>
                </a:ext>
              </a:extLst>
            </p:cNvPr>
            <p:cNvCxnSpPr/>
            <p:nvPr/>
          </p:nvCxnSpPr>
          <p:spPr bwMode="auto">
            <a:xfrm flipV="1">
              <a:off x="6435437" y="5625575"/>
              <a:ext cx="900000" cy="495000"/>
            </a:xfrm>
            <a:prstGeom prst="straightConnector1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BAE95E2-A3A6-E773-9AF7-8DEA03C108C8}"/>
                </a:ext>
              </a:extLst>
            </p:cNvPr>
            <p:cNvSpPr txBox="1"/>
            <p:nvPr/>
          </p:nvSpPr>
          <p:spPr>
            <a:xfrm>
              <a:off x="4236554" y="5985074"/>
              <a:ext cx="5304321" cy="322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>
                  <a:highlight>
                    <a:srgbClr val="FFFF00"/>
                  </a:highlight>
                  <a:latin typeface="楷体" panose="02010609060101010101" pitchFamily="49" charset="-122"/>
                  <a:ea typeface="楷体" panose="02010609060101010101" pitchFamily="49" charset="-122"/>
                </a:rPr>
                <a:t>抽屉无限位，无法保证装载前后在同一个位置</a:t>
              </a:r>
              <a:endParaRPr lang="en-US" sz="180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3" name="Titel 1">
            <a:extLst>
              <a:ext uri="{FF2B5EF4-FFF2-40B4-BE49-F238E27FC236}">
                <a16:creationId xmlns:a16="http://schemas.microsoft.com/office/drawing/2014/main" id="{ECCE86B2-355B-DDE8-A373-1EA2835DDFB0}"/>
              </a:ext>
            </a:extLst>
          </p:cNvPr>
          <p:cNvSpPr txBox="1">
            <a:spLocks/>
          </p:cNvSpPr>
          <p:nvPr/>
        </p:nvSpPr>
        <p:spPr bwMode="auto">
          <a:xfrm>
            <a:off x="358775" y="1079500"/>
            <a:ext cx="1809959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kern="0"/>
              <a:t>根本原因</a:t>
            </a:r>
            <a:endParaRPr lang="de-DE" kern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CCDC9B6-0EC0-C7A4-CC14-503F6DB86C17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1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Part.03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定义方案</a:t>
            </a:r>
          </a:p>
        </p:txBody>
      </p:sp>
    </p:spTree>
    <p:extLst>
      <p:ext uri="{BB962C8B-B14F-4D97-AF65-F5344CB8AC3E}">
        <p14:creationId xmlns:p14="http://schemas.microsoft.com/office/powerpoint/2010/main" val="322460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5"/>
          <p:cNvSpPr/>
          <p:nvPr/>
        </p:nvSpPr>
        <p:spPr bwMode="auto">
          <a:xfrm>
            <a:off x="6366580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81C15A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31" name="Freeform 5"/>
          <p:cNvSpPr/>
          <p:nvPr/>
        </p:nvSpPr>
        <p:spPr bwMode="auto">
          <a:xfrm>
            <a:off x="3768758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505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5" name="Freeform 5"/>
          <p:cNvSpPr/>
          <p:nvPr/>
        </p:nvSpPr>
        <p:spPr bwMode="auto">
          <a:xfrm>
            <a:off x="1048763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C00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613932" y="3793603"/>
            <a:ext cx="22099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方案</a:t>
            </a:r>
            <a:r>
              <a:rPr lang="en-US" altLang="zh-CN">
                <a:sym typeface="+mn-lt"/>
              </a:rPr>
              <a:t>1</a:t>
            </a:r>
            <a:r>
              <a:rPr lang="zh-CN" altLang="en-US">
                <a:sym typeface="+mn-lt"/>
              </a:rPr>
              <a:t>：软件更改</a:t>
            </a:r>
            <a:endParaRPr lang="en-US" altLang="zh-CN">
              <a:sym typeface="+mn-lt"/>
            </a:endParaRP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557608" y="4432184"/>
            <a:ext cx="2322604" cy="1433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将压缩机的停机温度降低</a:t>
            </a:r>
            <a:r>
              <a:rPr lang="en-US" altLang="zh-CN">
                <a:sym typeface="+mn-lt"/>
              </a:rPr>
              <a:t>1</a:t>
            </a:r>
            <a:r>
              <a:rPr lang="zh-CN" altLang="en-US">
                <a:sym typeface="+mn-lt"/>
              </a:rPr>
              <a:t>℃，将压缩机初始转速降低到装载之前稳定阶段转速。</a:t>
            </a: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3072119" y="3804472"/>
            <a:ext cx="26227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方案</a:t>
            </a:r>
            <a:r>
              <a:rPr lang="en-US" altLang="zh-CN">
                <a:sym typeface="+mn-lt"/>
              </a:rPr>
              <a:t>2</a:t>
            </a:r>
            <a:r>
              <a:rPr lang="zh-CN" altLang="en-US">
                <a:sym typeface="+mn-lt"/>
              </a:rPr>
              <a:t>：硬件更改</a:t>
            </a:r>
            <a:endParaRPr lang="en-US" altLang="zh-CN">
              <a:sym typeface="+mn-lt"/>
            </a:endParaRP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3195437" y="4453921"/>
            <a:ext cx="2622761" cy="1433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>
                <a:sym typeface="+mn-lt"/>
              </a:rPr>
              <a:t>恢复冷冻室</a:t>
            </a:r>
            <a:r>
              <a:rPr lang="en-US" altLang="zh-CN">
                <a:sym typeface="+mn-lt"/>
              </a:rPr>
              <a:t>Senser</a:t>
            </a:r>
            <a:r>
              <a:rPr lang="zh-CN" altLang="en-US">
                <a:sym typeface="+mn-lt"/>
              </a:rPr>
              <a:t>上方的挡风条</a:t>
            </a:r>
            <a:endParaRPr lang="en-US" altLang="zh-CN"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>
                <a:sym typeface="+mn-lt"/>
              </a:rPr>
              <a:t>把传感器设置到风场相对稳定的地方</a:t>
            </a: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5943112" y="3793603"/>
            <a:ext cx="24756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方案</a:t>
            </a:r>
            <a:r>
              <a:rPr lang="en-US" altLang="zh-CN">
                <a:sym typeface="+mn-lt"/>
              </a:rPr>
              <a:t>3</a:t>
            </a:r>
            <a:r>
              <a:rPr lang="zh-CN" altLang="en-US">
                <a:sym typeface="+mn-lt"/>
              </a:rPr>
              <a:t>：测试条件</a:t>
            </a:r>
            <a:endParaRPr lang="en-US" altLang="zh-CN">
              <a:sym typeface="+mn-lt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6210437" y="4453921"/>
            <a:ext cx="2292382" cy="106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92D050"/>
                </a:solidFill>
                <a:sym typeface="+mn-lt"/>
              </a:rPr>
              <a:t>前后左右移动抽屉，测量抽屉在不同位置下的间室温度和</a:t>
            </a:r>
            <a:r>
              <a:rPr lang="en-US" altLang="zh-CN">
                <a:solidFill>
                  <a:srgbClr val="92D050"/>
                </a:solidFill>
                <a:sym typeface="+mn-lt"/>
              </a:rPr>
              <a:t>senser</a:t>
            </a:r>
            <a:r>
              <a:rPr lang="zh-CN" altLang="en-US">
                <a:solidFill>
                  <a:srgbClr val="92D050"/>
                </a:solidFill>
                <a:sym typeface="+mn-lt"/>
              </a:rPr>
              <a:t>温度</a:t>
            </a:r>
          </a:p>
        </p:txBody>
      </p:sp>
      <p:sp>
        <p:nvSpPr>
          <p:cNvPr id="27" name="iconfont-1187-868319"/>
          <p:cNvSpPr>
            <a:spLocks noChangeAspect="1"/>
          </p:cNvSpPr>
          <p:nvPr/>
        </p:nvSpPr>
        <p:spPr bwMode="auto">
          <a:xfrm>
            <a:off x="1336751" y="2595501"/>
            <a:ext cx="610934" cy="610425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28" name="iconfont-11920-5700803"/>
          <p:cNvSpPr>
            <a:spLocks noChangeAspect="1"/>
          </p:cNvSpPr>
          <p:nvPr/>
        </p:nvSpPr>
        <p:spPr bwMode="auto">
          <a:xfrm>
            <a:off x="4096715" y="2623773"/>
            <a:ext cx="525224" cy="525224"/>
          </a:xfrm>
          <a:custGeom>
            <a:avLst/>
            <a:gdLst>
              <a:gd name="T0" fmla="*/ 0 w 11200"/>
              <a:gd name="T1" fmla="*/ 0 h 11200"/>
              <a:gd name="T2" fmla="*/ 4800 w 11200"/>
              <a:gd name="T3" fmla="*/ 0 h 11200"/>
              <a:gd name="T4" fmla="*/ 4800 w 11200"/>
              <a:gd name="T5" fmla="*/ 4800 h 11200"/>
              <a:gd name="T6" fmla="*/ 0 w 11200"/>
              <a:gd name="T7" fmla="*/ 4800 h 11200"/>
              <a:gd name="T8" fmla="*/ 0 w 11200"/>
              <a:gd name="T9" fmla="*/ 0 h 11200"/>
              <a:gd name="T10" fmla="*/ 0 w 11200"/>
              <a:gd name="T11" fmla="*/ 6400 h 11200"/>
              <a:gd name="T12" fmla="*/ 4800 w 11200"/>
              <a:gd name="T13" fmla="*/ 6400 h 11200"/>
              <a:gd name="T14" fmla="*/ 4800 w 11200"/>
              <a:gd name="T15" fmla="*/ 11200 h 11200"/>
              <a:gd name="T16" fmla="*/ 0 w 11200"/>
              <a:gd name="T17" fmla="*/ 11200 h 11200"/>
              <a:gd name="T18" fmla="*/ 0 w 11200"/>
              <a:gd name="T19" fmla="*/ 6400 h 11200"/>
              <a:gd name="T20" fmla="*/ 6400 w 11200"/>
              <a:gd name="T21" fmla="*/ 6400 h 11200"/>
              <a:gd name="T22" fmla="*/ 11200 w 11200"/>
              <a:gd name="T23" fmla="*/ 6400 h 11200"/>
              <a:gd name="T24" fmla="*/ 11200 w 11200"/>
              <a:gd name="T25" fmla="*/ 11200 h 11200"/>
              <a:gd name="T26" fmla="*/ 6400 w 11200"/>
              <a:gd name="T27" fmla="*/ 11200 h 11200"/>
              <a:gd name="T28" fmla="*/ 6400 w 11200"/>
              <a:gd name="T29" fmla="*/ 6400 h 11200"/>
              <a:gd name="T30" fmla="*/ 8800 w 11200"/>
              <a:gd name="T31" fmla="*/ 4800 h 11200"/>
              <a:gd name="T32" fmla="*/ 11200 w 11200"/>
              <a:gd name="T33" fmla="*/ 2400 h 11200"/>
              <a:gd name="T34" fmla="*/ 8800 w 11200"/>
              <a:gd name="T35" fmla="*/ 0 h 11200"/>
              <a:gd name="T36" fmla="*/ 6400 w 11200"/>
              <a:gd name="T37" fmla="*/ 2400 h 11200"/>
              <a:gd name="T38" fmla="*/ 8800 w 11200"/>
              <a:gd name="T39" fmla="*/ 4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00" h="11200">
                <a:moveTo>
                  <a:pt x="0" y="0"/>
                </a:moveTo>
                <a:lnTo>
                  <a:pt x="4800" y="0"/>
                </a:lnTo>
                <a:lnTo>
                  <a:pt x="4800" y="4800"/>
                </a:lnTo>
                <a:lnTo>
                  <a:pt x="0" y="4800"/>
                </a:lnTo>
                <a:lnTo>
                  <a:pt x="0" y="0"/>
                </a:lnTo>
                <a:close/>
                <a:moveTo>
                  <a:pt x="0" y="6400"/>
                </a:moveTo>
                <a:lnTo>
                  <a:pt x="4800" y="6400"/>
                </a:lnTo>
                <a:lnTo>
                  <a:pt x="4800" y="11200"/>
                </a:lnTo>
                <a:lnTo>
                  <a:pt x="0" y="11200"/>
                </a:lnTo>
                <a:lnTo>
                  <a:pt x="0" y="6400"/>
                </a:lnTo>
                <a:close/>
                <a:moveTo>
                  <a:pt x="6400" y="6400"/>
                </a:moveTo>
                <a:lnTo>
                  <a:pt x="11200" y="6400"/>
                </a:lnTo>
                <a:lnTo>
                  <a:pt x="11200" y="11200"/>
                </a:lnTo>
                <a:lnTo>
                  <a:pt x="6400" y="11200"/>
                </a:lnTo>
                <a:lnTo>
                  <a:pt x="6400" y="6400"/>
                </a:lnTo>
                <a:close/>
                <a:moveTo>
                  <a:pt x="8800" y="4800"/>
                </a:moveTo>
                <a:cubicBezTo>
                  <a:pt x="10125" y="4800"/>
                  <a:pt x="11200" y="3725"/>
                  <a:pt x="11200" y="2400"/>
                </a:cubicBezTo>
                <a:cubicBezTo>
                  <a:pt x="11200" y="1075"/>
                  <a:pt x="10125" y="0"/>
                  <a:pt x="8800" y="0"/>
                </a:cubicBezTo>
                <a:cubicBezTo>
                  <a:pt x="7475" y="0"/>
                  <a:pt x="6400" y="1075"/>
                  <a:pt x="6400" y="2400"/>
                </a:cubicBezTo>
                <a:cubicBezTo>
                  <a:pt x="6400" y="3725"/>
                  <a:pt x="7475" y="4800"/>
                  <a:pt x="8800" y="4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30" name="iconfont-1187-868307"/>
          <p:cNvSpPr>
            <a:spLocks noChangeAspect="1"/>
          </p:cNvSpPr>
          <p:nvPr/>
        </p:nvSpPr>
        <p:spPr bwMode="auto">
          <a:xfrm>
            <a:off x="6685608" y="2605772"/>
            <a:ext cx="537881" cy="526550"/>
          </a:xfrm>
          <a:custGeom>
            <a:avLst/>
            <a:gdLst>
              <a:gd name="T0" fmla="*/ 2895 w 12754"/>
              <a:gd name="T1" fmla="*/ 3482 h 12486"/>
              <a:gd name="T2" fmla="*/ 6377 w 12754"/>
              <a:gd name="T3" fmla="*/ 0 h 12486"/>
              <a:gd name="T4" fmla="*/ 9859 w 12754"/>
              <a:gd name="T5" fmla="*/ 3482 h 12486"/>
              <a:gd name="T6" fmla="*/ 6377 w 12754"/>
              <a:gd name="T7" fmla="*/ 6963 h 12486"/>
              <a:gd name="T8" fmla="*/ 2895 w 12754"/>
              <a:gd name="T9" fmla="*/ 3482 h 12486"/>
              <a:gd name="T10" fmla="*/ 0 w 12754"/>
              <a:gd name="T11" fmla="*/ 12468 h 12486"/>
              <a:gd name="T12" fmla="*/ 3586 w 12754"/>
              <a:gd name="T13" fmla="*/ 7045 h 12486"/>
              <a:gd name="T14" fmla="*/ 6377 w 12754"/>
              <a:gd name="T15" fmla="*/ 8014 h 12486"/>
              <a:gd name="T16" fmla="*/ 9182 w 12754"/>
              <a:gd name="T17" fmla="*/ 7036 h 12486"/>
              <a:gd name="T18" fmla="*/ 12754 w 12754"/>
              <a:gd name="T19" fmla="*/ 12468 h 12486"/>
              <a:gd name="T20" fmla="*/ 0 w 12754"/>
              <a:gd name="T21" fmla="*/ 12468 h 12486"/>
              <a:gd name="T22" fmla="*/ 0 w 12754"/>
              <a:gd name="T23" fmla="*/ 12468 h 12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754" h="12486">
                <a:moveTo>
                  <a:pt x="2895" y="3482"/>
                </a:moveTo>
                <a:cubicBezTo>
                  <a:pt x="2895" y="1562"/>
                  <a:pt x="4457" y="0"/>
                  <a:pt x="6377" y="0"/>
                </a:cubicBezTo>
                <a:cubicBezTo>
                  <a:pt x="8297" y="0"/>
                  <a:pt x="9859" y="1562"/>
                  <a:pt x="9859" y="3482"/>
                </a:cubicBezTo>
                <a:cubicBezTo>
                  <a:pt x="9859" y="5402"/>
                  <a:pt x="8297" y="6963"/>
                  <a:pt x="6377" y="6963"/>
                </a:cubicBezTo>
                <a:cubicBezTo>
                  <a:pt x="4457" y="6963"/>
                  <a:pt x="2895" y="5402"/>
                  <a:pt x="2895" y="3482"/>
                </a:cubicBezTo>
                <a:close/>
                <a:moveTo>
                  <a:pt x="0" y="12468"/>
                </a:moveTo>
                <a:cubicBezTo>
                  <a:pt x="75" y="11626"/>
                  <a:pt x="479" y="8643"/>
                  <a:pt x="3586" y="7045"/>
                </a:cubicBezTo>
                <a:cubicBezTo>
                  <a:pt x="4356" y="7650"/>
                  <a:pt x="5324" y="8014"/>
                  <a:pt x="6377" y="8014"/>
                </a:cubicBezTo>
                <a:cubicBezTo>
                  <a:pt x="7436" y="8014"/>
                  <a:pt x="8409" y="7647"/>
                  <a:pt x="9182" y="7036"/>
                </a:cubicBezTo>
                <a:cubicBezTo>
                  <a:pt x="12302" y="8627"/>
                  <a:pt x="12678" y="11589"/>
                  <a:pt x="12754" y="12468"/>
                </a:cubicBezTo>
                <a:cubicBezTo>
                  <a:pt x="12736" y="12486"/>
                  <a:pt x="18" y="12470"/>
                  <a:pt x="0" y="12468"/>
                </a:cubicBezTo>
                <a:close/>
                <a:moveTo>
                  <a:pt x="0" y="1246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D2DF9C-760A-A0C6-47C6-F3BF3B8A694A}"/>
              </a:ext>
            </a:extLst>
          </p:cNvPr>
          <p:cNvCxnSpPr/>
          <p:nvPr/>
        </p:nvCxnSpPr>
        <p:spPr bwMode="auto">
          <a:xfrm>
            <a:off x="0" y="1035575"/>
            <a:ext cx="9540875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E5CCF2DA-1EC6-D3C9-4759-7CC9A79979A5}"/>
              </a:ext>
            </a:extLst>
          </p:cNvPr>
          <p:cNvSpPr txBox="1">
            <a:spLocks/>
          </p:cNvSpPr>
          <p:nvPr/>
        </p:nvSpPr>
        <p:spPr bwMode="auto">
          <a:xfrm>
            <a:off x="120928" y="513722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3.</a:t>
            </a:r>
            <a:r>
              <a:rPr lang="zh-CN" altLang="en-US"/>
              <a:t>定义方案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Part.04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方案验证</a:t>
            </a:r>
          </a:p>
        </p:txBody>
      </p:sp>
    </p:spTree>
    <p:extLst>
      <p:ext uri="{BB962C8B-B14F-4D97-AF65-F5344CB8AC3E}">
        <p14:creationId xmlns:p14="http://schemas.microsoft.com/office/powerpoint/2010/main" val="27353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F0AB-6666-9191-3BFE-8C15A526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2375E1E7-22AE-1345-7AAD-4F7EC3704A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6349583"/>
              </p:ext>
            </p:extLst>
          </p:nvPr>
        </p:nvGraphicFramePr>
        <p:xfrm>
          <a:off x="135437" y="1125575"/>
          <a:ext cx="9270000" cy="496142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1523">
                  <a:extLst>
                    <a:ext uri="{9D8B030D-6E8A-4147-A177-3AD203B41FA5}">
                      <a16:colId xmlns:a16="http://schemas.microsoft.com/office/drawing/2014/main" val="2331199026"/>
                    </a:ext>
                  </a:extLst>
                </a:gridCol>
                <a:gridCol w="2112684">
                  <a:extLst>
                    <a:ext uri="{9D8B030D-6E8A-4147-A177-3AD203B41FA5}">
                      <a16:colId xmlns:a16="http://schemas.microsoft.com/office/drawing/2014/main" val="3426083869"/>
                    </a:ext>
                  </a:extLst>
                </a:gridCol>
                <a:gridCol w="2257793">
                  <a:extLst>
                    <a:ext uri="{9D8B030D-6E8A-4147-A177-3AD203B41FA5}">
                      <a16:colId xmlns:a16="http://schemas.microsoft.com/office/drawing/2014/main" val="1712650734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1004691703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205004653"/>
                    </a:ext>
                  </a:extLst>
                </a:gridCol>
              </a:tblGrid>
              <a:tr h="71798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方案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预计效果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实际效果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责任人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最终结果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883979"/>
                  </a:ext>
                </a:extLst>
              </a:tr>
              <a:tr h="1500137">
                <a:tc>
                  <a:txBody>
                    <a:bodyPr/>
                    <a:lstStyle/>
                    <a:p>
                      <a:r>
                        <a:rPr lang="zh-CN" altLang="en-US"/>
                        <a:t>方案</a:t>
                      </a:r>
                      <a:r>
                        <a:rPr lang="en-US" altLang="zh-CN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装载后压缩机不停机，间室温度和装载前相差小于</a:t>
                      </a:r>
                      <a:r>
                        <a:rPr lang="en-US" altLang="zh-CN"/>
                        <a:t>1K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装载后压缩机不停机，间室温度和装载前相差</a:t>
                      </a:r>
                      <a:r>
                        <a:rPr lang="en-US" altLang="zh-CN"/>
                        <a:t>0.1K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  <a:r>
                        <a:rPr lang="en-US" altLang="zh-CN"/>
                        <a:t>en Tixiu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降低压缩机停机温度和初始转速，可以实现装载前后温差不超过</a:t>
                      </a:r>
                      <a:r>
                        <a:rPr lang="en-US" altLang="zh-CN"/>
                        <a:t>1K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229094"/>
                  </a:ext>
                </a:extLst>
              </a:tr>
              <a:tr h="1005939">
                <a:tc>
                  <a:txBody>
                    <a:bodyPr/>
                    <a:lstStyle/>
                    <a:p>
                      <a:r>
                        <a:rPr lang="zh-CN" altLang="en-US"/>
                        <a:t>方案</a:t>
                      </a:r>
                      <a:r>
                        <a:rPr lang="en-US" altLang="zh-CN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装载前后有间室温度相差小于</a:t>
                      </a:r>
                      <a:r>
                        <a:rPr lang="en-US" altLang="zh-CN"/>
                        <a:t>1K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待验证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  <a:r>
                        <a:rPr lang="en-US" altLang="zh-CN"/>
                        <a:t>en Tixiu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待验证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80438"/>
                  </a:ext>
                </a:extLst>
              </a:tr>
              <a:tr h="1005939">
                <a:tc>
                  <a:txBody>
                    <a:bodyPr/>
                    <a:lstStyle/>
                    <a:p>
                      <a:r>
                        <a:rPr lang="zh-CN" altLang="en-US"/>
                        <a:t>方案</a:t>
                      </a:r>
                      <a:r>
                        <a:rPr lang="en-US" altLang="zh-CN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移动抽屉后，间室温度发生变化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(1)</a:t>
                      </a:r>
                      <a:r>
                        <a:rPr lang="zh-CN" altLang="en-US"/>
                        <a:t>左右移动抽屉后，间室温度相差</a:t>
                      </a:r>
                      <a:r>
                        <a:rPr lang="en-US" altLang="zh-CN"/>
                        <a:t>0.1K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(2)</a:t>
                      </a:r>
                      <a:r>
                        <a:rPr lang="zh-CN" altLang="en-US"/>
                        <a:t>装载后将抽屉向向后拉，发现前后温度相差</a:t>
                      </a:r>
                      <a:r>
                        <a:rPr lang="en-US" altLang="zh-CN"/>
                        <a:t>0.8K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W</a:t>
                      </a:r>
                      <a:r>
                        <a:rPr lang="en-US" altLang="zh-CN"/>
                        <a:t>ang Baoyang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(1)</a:t>
                      </a:r>
                      <a:r>
                        <a:rPr lang="zh-CN" altLang="en-US"/>
                        <a:t>左右移动抽屉对间室温度影响较小</a:t>
                      </a:r>
                      <a:endParaRPr lang="en-US" altLang="zh-CN"/>
                    </a:p>
                    <a:p>
                      <a:r>
                        <a:rPr lang="en-US" altLang="zh-CN"/>
                        <a:t>(2)</a:t>
                      </a:r>
                      <a:r>
                        <a:rPr lang="zh-CN" altLang="en-US"/>
                        <a:t>前后移动抽屉对间室温度影响较大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963613"/>
                  </a:ext>
                </a:extLst>
              </a:tr>
            </a:tbl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8551708D-7F20-C43B-F97F-6B164910511C}"/>
              </a:ext>
            </a:extLst>
          </p:cNvPr>
          <p:cNvSpPr txBox="1">
            <a:spLocks/>
          </p:cNvSpPr>
          <p:nvPr/>
        </p:nvSpPr>
        <p:spPr bwMode="auto">
          <a:xfrm>
            <a:off x="135437" y="443292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4.</a:t>
            </a:r>
            <a:r>
              <a:rPr lang="zh-CN" altLang="en-US"/>
              <a:t>方案验证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6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Part.05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</a:p>
        </p:txBody>
      </p:sp>
    </p:spTree>
    <p:extLst>
      <p:ext uri="{BB962C8B-B14F-4D97-AF65-F5344CB8AC3E}">
        <p14:creationId xmlns:p14="http://schemas.microsoft.com/office/powerpoint/2010/main" val="51098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468F3-0656-E3C9-153F-35BCDBA1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5">
            <a:extLst>
              <a:ext uri="{FF2B5EF4-FFF2-40B4-BE49-F238E27FC236}">
                <a16:creationId xmlns:a16="http://schemas.microsoft.com/office/drawing/2014/main" id="{18A518AF-448A-F75A-E667-0BA29CCF4297}"/>
              </a:ext>
            </a:extLst>
          </p:cNvPr>
          <p:cNvSpPr/>
          <p:nvPr/>
        </p:nvSpPr>
        <p:spPr bwMode="auto">
          <a:xfrm>
            <a:off x="6366580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81C15A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926676C1-3BE3-2E15-A776-0116307AB4EF}"/>
              </a:ext>
            </a:extLst>
          </p:cNvPr>
          <p:cNvSpPr/>
          <p:nvPr/>
        </p:nvSpPr>
        <p:spPr bwMode="auto">
          <a:xfrm>
            <a:off x="3768758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505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4C6AEE0-4C14-2A6C-F665-EC5F4940B8B2}"/>
              </a:ext>
            </a:extLst>
          </p:cNvPr>
          <p:cNvSpPr/>
          <p:nvPr/>
        </p:nvSpPr>
        <p:spPr bwMode="auto">
          <a:xfrm>
            <a:off x="1048763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C00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8241CE4B-E6B7-2AEF-12BF-BF905BD0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300" y="3829510"/>
            <a:ext cx="10875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sym typeface="+mn-lt"/>
              </a:rPr>
              <a:t>设计改进</a:t>
            </a:r>
            <a:endParaRPr lang="en-US" altLang="zh-CN">
              <a:solidFill>
                <a:srgbClr val="FFFF00"/>
              </a:solidFill>
              <a:sym typeface="+mn-lt"/>
            </a:endParaRPr>
          </a:p>
        </p:txBody>
      </p:sp>
      <p:sp>
        <p:nvSpPr>
          <p:cNvPr id="20" name="1">
            <a:extLst>
              <a:ext uri="{FF2B5EF4-FFF2-40B4-BE49-F238E27FC236}">
                <a16:creationId xmlns:a16="http://schemas.microsoft.com/office/drawing/2014/main" id="{2AAF8B5D-A665-8BF0-F193-1031633D2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84" y="4324674"/>
            <a:ext cx="2322604" cy="1433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sym typeface="+mn-lt"/>
              </a:rPr>
              <a:t>传感器的位置，尽量保证传感器处于稳定风场环境，减少风场波动对感知精度的影响。</a:t>
            </a:r>
            <a:endParaRPr lang="en-US" altLang="zh-CN">
              <a:solidFill>
                <a:srgbClr val="FFFF00"/>
              </a:solidFill>
              <a:sym typeface="+mn-lt"/>
            </a:endParaRPr>
          </a:p>
        </p:txBody>
      </p:sp>
      <p:sp>
        <p:nvSpPr>
          <p:cNvPr id="21" name="1">
            <a:extLst>
              <a:ext uri="{FF2B5EF4-FFF2-40B4-BE49-F238E27FC236}">
                <a16:creationId xmlns:a16="http://schemas.microsoft.com/office/drawing/2014/main" id="{87910FEE-DEB7-21E9-4CC4-53A2B9AE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852" y="3832960"/>
            <a:ext cx="1028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分析方法</a:t>
            </a:r>
            <a:endParaRPr lang="en-US" altLang="zh-CN">
              <a:sym typeface="+mn-lt"/>
            </a:endParaRPr>
          </a:p>
        </p:txBody>
      </p:sp>
      <p:sp>
        <p:nvSpPr>
          <p:cNvPr id="22" name="1">
            <a:extLst>
              <a:ext uri="{FF2B5EF4-FFF2-40B4-BE49-F238E27FC236}">
                <a16:creationId xmlns:a16="http://schemas.microsoft.com/office/drawing/2014/main" id="{510A1368-81AF-BBD5-C2E4-E850DE084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833" y="4332215"/>
            <a:ext cx="2142604" cy="106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FF5050"/>
                </a:solidFill>
                <a:sym typeface="+mn-lt"/>
              </a:rPr>
              <a:t>分析问题时基于软件、硬件、测试方法等多个角度出发。</a:t>
            </a:r>
          </a:p>
        </p:txBody>
      </p:sp>
      <p:sp>
        <p:nvSpPr>
          <p:cNvPr id="23" name="1">
            <a:extLst>
              <a:ext uri="{FF2B5EF4-FFF2-40B4-BE49-F238E27FC236}">
                <a16:creationId xmlns:a16="http://schemas.microsoft.com/office/drawing/2014/main" id="{F7E1269A-8EDC-EE9B-E209-18119140C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779" y="3829509"/>
            <a:ext cx="1028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92D050"/>
                </a:solidFill>
                <a:sym typeface="+mn-lt"/>
              </a:rPr>
              <a:t>补充测试</a:t>
            </a:r>
            <a:endParaRPr lang="en-US" altLang="zh-CN">
              <a:solidFill>
                <a:srgbClr val="92D050"/>
              </a:solidFill>
              <a:sym typeface="+mn-lt"/>
            </a:endParaRPr>
          </a:p>
        </p:txBody>
      </p:sp>
      <p:sp>
        <p:nvSpPr>
          <p:cNvPr id="24" name="1">
            <a:extLst>
              <a:ext uri="{FF2B5EF4-FFF2-40B4-BE49-F238E27FC236}">
                <a16:creationId xmlns:a16="http://schemas.microsoft.com/office/drawing/2014/main" id="{873E8938-8329-840B-17D8-EA68ABE86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055" y="4332215"/>
            <a:ext cx="2292382" cy="1433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rgbClr val="92D050"/>
                </a:solidFill>
                <a:sym typeface="+mn-lt"/>
              </a:rPr>
              <a:t>补充恢复</a:t>
            </a:r>
            <a:r>
              <a:rPr lang="en-US" altLang="zh-CN">
                <a:solidFill>
                  <a:srgbClr val="92D050"/>
                </a:solidFill>
                <a:sym typeface="+mn-lt"/>
              </a:rPr>
              <a:t>senser</a:t>
            </a:r>
            <a:r>
              <a:rPr lang="zh-CN" altLang="en-US">
                <a:solidFill>
                  <a:srgbClr val="92D050"/>
                </a:solidFill>
                <a:sym typeface="+mn-lt"/>
              </a:rPr>
              <a:t>上方挡风条的测试数据</a:t>
            </a:r>
            <a:endParaRPr lang="en-US" altLang="zh-CN">
              <a:solidFill>
                <a:srgbClr val="92D050"/>
              </a:solidFill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rgbClr val="92D050"/>
                </a:solidFill>
                <a:sym typeface="+mn-lt"/>
              </a:rPr>
              <a:t>补充恢复抽屉导轨后的测试数据</a:t>
            </a:r>
            <a:endParaRPr lang="en-US" altLang="zh-CN">
              <a:solidFill>
                <a:srgbClr val="92D050"/>
              </a:solidFill>
              <a:sym typeface="+mn-lt"/>
            </a:endParaRPr>
          </a:p>
        </p:txBody>
      </p:sp>
      <p:sp>
        <p:nvSpPr>
          <p:cNvPr id="27" name="iconfont-1187-868319">
            <a:extLst>
              <a:ext uri="{FF2B5EF4-FFF2-40B4-BE49-F238E27FC236}">
                <a16:creationId xmlns:a16="http://schemas.microsoft.com/office/drawing/2014/main" id="{F4298B4B-122A-72CB-33DA-CCA2A9AD1A72}"/>
              </a:ext>
            </a:extLst>
          </p:cNvPr>
          <p:cNvSpPr>
            <a:spLocks noChangeAspect="1"/>
          </p:cNvSpPr>
          <p:nvPr/>
        </p:nvSpPr>
        <p:spPr bwMode="auto">
          <a:xfrm>
            <a:off x="1336751" y="2595501"/>
            <a:ext cx="610934" cy="610425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28" name="iconfont-11920-5700803">
            <a:extLst>
              <a:ext uri="{FF2B5EF4-FFF2-40B4-BE49-F238E27FC236}">
                <a16:creationId xmlns:a16="http://schemas.microsoft.com/office/drawing/2014/main" id="{F54A5722-8FE0-4EF3-2E2C-F54FDDAC2DD6}"/>
              </a:ext>
            </a:extLst>
          </p:cNvPr>
          <p:cNvSpPr>
            <a:spLocks noChangeAspect="1"/>
          </p:cNvSpPr>
          <p:nvPr/>
        </p:nvSpPr>
        <p:spPr bwMode="auto">
          <a:xfrm>
            <a:off x="4096715" y="2623773"/>
            <a:ext cx="525224" cy="525224"/>
          </a:xfrm>
          <a:custGeom>
            <a:avLst/>
            <a:gdLst>
              <a:gd name="T0" fmla="*/ 0 w 11200"/>
              <a:gd name="T1" fmla="*/ 0 h 11200"/>
              <a:gd name="T2" fmla="*/ 4800 w 11200"/>
              <a:gd name="T3" fmla="*/ 0 h 11200"/>
              <a:gd name="T4" fmla="*/ 4800 w 11200"/>
              <a:gd name="T5" fmla="*/ 4800 h 11200"/>
              <a:gd name="T6" fmla="*/ 0 w 11200"/>
              <a:gd name="T7" fmla="*/ 4800 h 11200"/>
              <a:gd name="T8" fmla="*/ 0 w 11200"/>
              <a:gd name="T9" fmla="*/ 0 h 11200"/>
              <a:gd name="T10" fmla="*/ 0 w 11200"/>
              <a:gd name="T11" fmla="*/ 6400 h 11200"/>
              <a:gd name="T12" fmla="*/ 4800 w 11200"/>
              <a:gd name="T13" fmla="*/ 6400 h 11200"/>
              <a:gd name="T14" fmla="*/ 4800 w 11200"/>
              <a:gd name="T15" fmla="*/ 11200 h 11200"/>
              <a:gd name="T16" fmla="*/ 0 w 11200"/>
              <a:gd name="T17" fmla="*/ 11200 h 11200"/>
              <a:gd name="T18" fmla="*/ 0 w 11200"/>
              <a:gd name="T19" fmla="*/ 6400 h 11200"/>
              <a:gd name="T20" fmla="*/ 6400 w 11200"/>
              <a:gd name="T21" fmla="*/ 6400 h 11200"/>
              <a:gd name="T22" fmla="*/ 11200 w 11200"/>
              <a:gd name="T23" fmla="*/ 6400 h 11200"/>
              <a:gd name="T24" fmla="*/ 11200 w 11200"/>
              <a:gd name="T25" fmla="*/ 11200 h 11200"/>
              <a:gd name="T26" fmla="*/ 6400 w 11200"/>
              <a:gd name="T27" fmla="*/ 11200 h 11200"/>
              <a:gd name="T28" fmla="*/ 6400 w 11200"/>
              <a:gd name="T29" fmla="*/ 6400 h 11200"/>
              <a:gd name="T30" fmla="*/ 8800 w 11200"/>
              <a:gd name="T31" fmla="*/ 4800 h 11200"/>
              <a:gd name="T32" fmla="*/ 11200 w 11200"/>
              <a:gd name="T33" fmla="*/ 2400 h 11200"/>
              <a:gd name="T34" fmla="*/ 8800 w 11200"/>
              <a:gd name="T35" fmla="*/ 0 h 11200"/>
              <a:gd name="T36" fmla="*/ 6400 w 11200"/>
              <a:gd name="T37" fmla="*/ 2400 h 11200"/>
              <a:gd name="T38" fmla="*/ 8800 w 11200"/>
              <a:gd name="T39" fmla="*/ 4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00" h="11200">
                <a:moveTo>
                  <a:pt x="0" y="0"/>
                </a:moveTo>
                <a:lnTo>
                  <a:pt x="4800" y="0"/>
                </a:lnTo>
                <a:lnTo>
                  <a:pt x="4800" y="4800"/>
                </a:lnTo>
                <a:lnTo>
                  <a:pt x="0" y="4800"/>
                </a:lnTo>
                <a:lnTo>
                  <a:pt x="0" y="0"/>
                </a:lnTo>
                <a:close/>
                <a:moveTo>
                  <a:pt x="0" y="6400"/>
                </a:moveTo>
                <a:lnTo>
                  <a:pt x="4800" y="6400"/>
                </a:lnTo>
                <a:lnTo>
                  <a:pt x="4800" y="11200"/>
                </a:lnTo>
                <a:lnTo>
                  <a:pt x="0" y="11200"/>
                </a:lnTo>
                <a:lnTo>
                  <a:pt x="0" y="6400"/>
                </a:lnTo>
                <a:close/>
                <a:moveTo>
                  <a:pt x="6400" y="6400"/>
                </a:moveTo>
                <a:lnTo>
                  <a:pt x="11200" y="6400"/>
                </a:lnTo>
                <a:lnTo>
                  <a:pt x="11200" y="11200"/>
                </a:lnTo>
                <a:lnTo>
                  <a:pt x="6400" y="11200"/>
                </a:lnTo>
                <a:lnTo>
                  <a:pt x="6400" y="6400"/>
                </a:lnTo>
                <a:close/>
                <a:moveTo>
                  <a:pt x="8800" y="4800"/>
                </a:moveTo>
                <a:cubicBezTo>
                  <a:pt x="10125" y="4800"/>
                  <a:pt x="11200" y="3725"/>
                  <a:pt x="11200" y="2400"/>
                </a:cubicBezTo>
                <a:cubicBezTo>
                  <a:pt x="11200" y="1075"/>
                  <a:pt x="10125" y="0"/>
                  <a:pt x="8800" y="0"/>
                </a:cubicBezTo>
                <a:cubicBezTo>
                  <a:pt x="7475" y="0"/>
                  <a:pt x="6400" y="1075"/>
                  <a:pt x="6400" y="2400"/>
                </a:cubicBezTo>
                <a:cubicBezTo>
                  <a:pt x="6400" y="3725"/>
                  <a:pt x="7475" y="4800"/>
                  <a:pt x="8800" y="4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30" name="iconfont-1187-868307">
            <a:extLst>
              <a:ext uri="{FF2B5EF4-FFF2-40B4-BE49-F238E27FC236}">
                <a16:creationId xmlns:a16="http://schemas.microsoft.com/office/drawing/2014/main" id="{C564B745-2494-56D9-A7A5-3E391CC783A0}"/>
              </a:ext>
            </a:extLst>
          </p:cNvPr>
          <p:cNvSpPr>
            <a:spLocks noChangeAspect="1"/>
          </p:cNvSpPr>
          <p:nvPr/>
        </p:nvSpPr>
        <p:spPr bwMode="auto">
          <a:xfrm>
            <a:off x="6685608" y="2605772"/>
            <a:ext cx="537881" cy="526550"/>
          </a:xfrm>
          <a:custGeom>
            <a:avLst/>
            <a:gdLst>
              <a:gd name="T0" fmla="*/ 2895 w 12754"/>
              <a:gd name="T1" fmla="*/ 3482 h 12486"/>
              <a:gd name="T2" fmla="*/ 6377 w 12754"/>
              <a:gd name="T3" fmla="*/ 0 h 12486"/>
              <a:gd name="T4" fmla="*/ 9859 w 12754"/>
              <a:gd name="T5" fmla="*/ 3482 h 12486"/>
              <a:gd name="T6" fmla="*/ 6377 w 12754"/>
              <a:gd name="T7" fmla="*/ 6963 h 12486"/>
              <a:gd name="T8" fmla="*/ 2895 w 12754"/>
              <a:gd name="T9" fmla="*/ 3482 h 12486"/>
              <a:gd name="T10" fmla="*/ 0 w 12754"/>
              <a:gd name="T11" fmla="*/ 12468 h 12486"/>
              <a:gd name="T12" fmla="*/ 3586 w 12754"/>
              <a:gd name="T13" fmla="*/ 7045 h 12486"/>
              <a:gd name="T14" fmla="*/ 6377 w 12754"/>
              <a:gd name="T15" fmla="*/ 8014 h 12486"/>
              <a:gd name="T16" fmla="*/ 9182 w 12754"/>
              <a:gd name="T17" fmla="*/ 7036 h 12486"/>
              <a:gd name="T18" fmla="*/ 12754 w 12754"/>
              <a:gd name="T19" fmla="*/ 12468 h 12486"/>
              <a:gd name="T20" fmla="*/ 0 w 12754"/>
              <a:gd name="T21" fmla="*/ 12468 h 12486"/>
              <a:gd name="T22" fmla="*/ 0 w 12754"/>
              <a:gd name="T23" fmla="*/ 12468 h 12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754" h="12486">
                <a:moveTo>
                  <a:pt x="2895" y="3482"/>
                </a:moveTo>
                <a:cubicBezTo>
                  <a:pt x="2895" y="1562"/>
                  <a:pt x="4457" y="0"/>
                  <a:pt x="6377" y="0"/>
                </a:cubicBezTo>
                <a:cubicBezTo>
                  <a:pt x="8297" y="0"/>
                  <a:pt x="9859" y="1562"/>
                  <a:pt x="9859" y="3482"/>
                </a:cubicBezTo>
                <a:cubicBezTo>
                  <a:pt x="9859" y="5402"/>
                  <a:pt x="8297" y="6963"/>
                  <a:pt x="6377" y="6963"/>
                </a:cubicBezTo>
                <a:cubicBezTo>
                  <a:pt x="4457" y="6963"/>
                  <a:pt x="2895" y="5402"/>
                  <a:pt x="2895" y="3482"/>
                </a:cubicBezTo>
                <a:close/>
                <a:moveTo>
                  <a:pt x="0" y="12468"/>
                </a:moveTo>
                <a:cubicBezTo>
                  <a:pt x="75" y="11626"/>
                  <a:pt x="479" y="8643"/>
                  <a:pt x="3586" y="7045"/>
                </a:cubicBezTo>
                <a:cubicBezTo>
                  <a:pt x="4356" y="7650"/>
                  <a:pt x="5324" y="8014"/>
                  <a:pt x="6377" y="8014"/>
                </a:cubicBezTo>
                <a:cubicBezTo>
                  <a:pt x="7436" y="8014"/>
                  <a:pt x="8409" y="7647"/>
                  <a:pt x="9182" y="7036"/>
                </a:cubicBezTo>
                <a:cubicBezTo>
                  <a:pt x="12302" y="8627"/>
                  <a:pt x="12678" y="11589"/>
                  <a:pt x="12754" y="12468"/>
                </a:cubicBezTo>
                <a:cubicBezTo>
                  <a:pt x="12736" y="12486"/>
                  <a:pt x="18" y="12470"/>
                  <a:pt x="0" y="12468"/>
                </a:cubicBezTo>
                <a:close/>
                <a:moveTo>
                  <a:pt x="0" y="1246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FC24610-2359-FD3D-6612-DCDDD5854D0D}"/>
              </a:ext>
            </a:extLst>
          </p:cNvPr>
          <p:cNvCxnSpPr/>
          <p:nvPr/>
        </p:nvCxnSpPr>
        <p:spPr bwMode="auto">
          <a:xfrm>
            <a:off x="0" y="1035575"/>
            <a:ext cx="9540875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F85BF91F-4B27-BA96-30ED-9A130DF21DAB}"/>
              </a:ext>
            </a:extLst>
          </p:cNvPr>
          <p:cNvSpPr txBox="1">
            <a:spLocks/>
          </p:cNvSpPr>
          <p:nvPr/>
        </p:nvSpPr>
        <p:spPr bwMode="auto">
          <a:xfrm>
            <a:off x="137198" y="530219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5.</a:t>
            </a:r>
            <a:r>
              <a:rPr lang="zh-CN" altLang="en-US"/>
              <a:t>总结</a:t>
            </a:r>
            <a:r>
              <a:rPr lang="en-US" altLang="zh-CN"/>
              <a:t>&amp;</a:t>
            </a:r>
            <a:r>
              <a:rPr lang="zh-CN" altLang="en-US"/>
              <a:t>启发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heme/theme1.xml><?xml version="1.0" encoding="utf-8"?>
<a:theme xmlns:a="http://schemas.openxmlformats.org/drawingml/2006/main" name="BSH-Praesentation">
  <a:themeElements>
    <a:clrScheme name="BSH1 Warm">
      <a:dk1>
        <a:srgbClr val="000000"/>
      </a:dk1>
      <a:lt1>
        <a:srgbClr val="FFFFFF"/>
      </a:lt1>
      <a:dk2>
        <a:srgbClr val="99C8AD"/>
      </a:dk2>
      <a:lt2>
        <a:srgbClr val="E66E0F"/>
      </a:lt2>
      <a:accent1>
        <a:srgbClr val="AA3232"/>
      </a:accent1>
      <a:accent2>
        <a:srgbClr val="96B9DC"/>
      </a:accent2>
      <a:accent3>
        <a:srgbClr val="0050A5"/>
      </a:accent3>
      <a:accent4>
        <a:srgbClr val="F0C896"/>
      </a:accent4>
      <a:accent5>
        <a:srgbClr val="E66E0F"/>
      </a:accent5>
      <a:accent6>
        <a:srgbClr val="99C8AD"/>
      </a:accent6>
      <a:hlink>
        <a:srgbClr val="0050A5"/>
      </a:hlink>
      <a:folHlink>
        <a:srgbClr val="F0C896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99C8AD"/>
        </a:dk2>
        <a:lt2>
          <a:srgbClr val="E66E0F"/>
        </a:lt2>
        <a:accent1>
          <a:srgbClr val="AA3232"/>
        </a:accent1>
        <a:accent2>
          <a:srgbClr val="96B9DC"/>
        </a:accent2>
        <a:accent3>
          <a:srgbClr val="FFFFFF"/>
        </a:accent3>
        <a:accent4>
          <a:srgbClr val="000000"/>
        </a:accent4>
        <a:accent5>
          <a:srgbClr val="D2ADAD"/>
        </a:accent5>
        <a:accent6>
          <a:srgbClr val="87A7C7"/>
        </a:accent6>
        <a:hlink>
          <a:srgbClr val="0050A5"/>
        </a:hlink>
        <a:folHlink>
          <a:srgbClr val="F0C8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CDDCF0"/>
        </a:dk2>
        <a:lt2>
          <a:srgbClr val="999999"/>
        </a:lt2>
        <a:accent1>
          <a:srgbClr val="3273B9"/>
        </a:accent1>
        <a:accent2>
          <a:srgbClr val="96B9DC"/>
        </a:accent2>
        <a:accent3>
          <a:srgbClr val="FFFFFF"/>
        </a:accent3>
        <a:accent4>
          <a:srgbClr val="000000"/>
        </a:accent4>
        <a:accent5>
          <a:srgbClr val="ADBCD9"/>
        </a:accent5>
        <a:accent6>
          <a:srgbClr val="87A7C7"/>
        </a:accent6>
        <a:hlink>
          <a:srgbClr val="0050A5"/>
        </a:hlink>
        <a:folHlink>
          <a:srgbClr val="6496C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E6E6E6"/>
        </a:dk2>
        <a:lt2>
          <a:srgbClr val="999999"/>
        </a:lt2>
        <a:accent1>
          <a:srgbClr val="666666"/>
        </a:accent1>
        <a:accent2>
          <a:srgbClr val="B3B3B3"/>
        </a:accent2>
        <a:accent3>
          <a:srgbClr val="FFFFFF"/>
        </a:accent3>
        <a:accent4>
          <a:srgbClr val="000000"/>
        </a:accent4>
        <a:accent5>
          <a:srgbClr val="B8B8B8"/>
        </a:accent5>
        <a:accent6>
          <a:srgbClr val="A2A2A2"/>
        </a:accent6>
        <a:hlink>
          <a:srgbClr val="80808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66689D152F0B3B4B8E44349FCA711FF5" ma:contentTypeVersion="19" ma:contentTypeDescription="新建文档。" ma:contentTypeScope="" ma:versionID="8a720e753b47a19f1c05744a7e8e30c5">
  <xsd:schema xmlns:xsd="http://www.w3.org/2001/XMLSchema" xmlns:xs="http://www.w3.org/2001/XMLSchema" xmlns:p="http://schemas.microsoft.com/office/2006/metadata/properties" xmlns:ns2="bbe6002c-dc1a-4d55-a0cd-e322223912c3" xmlns:ns3="83f96245-f9e5-4b70-b648-9810454ad2f4" targetNamespace="http://schemas.microsoft.com/office/2006/metadata/properties" ma:root="true" ma:fieldsID="9cfde9a318e24a589d5808f5a207234c" ns2:_="" ns3:_="">
    <xsd:import namespace="bbe6002c-dc1a-4d55-a0cd-e322223912c3"/>
    <xsd:import namespace="83f96245-f9e5-4b70-b648-9810454ad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3:SharedWithUsers" minOccurs="0"/>
                <xsd:element ref="ns3:SharedWithDetails" minOccurs="0"/>
                <xsd:element ref="ns2:Standard" minOccurs="0"/>
                <xsd:element ref="ns2:MediaServiceObjectDetectorVersions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vers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6002c-dc1a-4d55-a0cd-e322223912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Standard" ma:index="20" nillable="true" ma:displayName="Standard" ma:format="Dropdown" ma:internalName="Standard">
      <xsd:simpleType>
        <xsd:restriction base="dms:Choice">
          <xsd:enumeration value="CR"/>
          <xsd:enumeration value="Energy consumption"/>
          <xsd:enumeration value="AHAM 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version" ma:index="25" nillable="true" ma:displayName="version" ma:format="Dropdown" ma:internalName="version" ma:percentage="FALSE">
      <xsd:simpleType>
        <xsd:restriction base="dms:Number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96245-f9e5-4b70-b648-9810454ad2f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d626e0c-f118-4d7a-b3ea-bda9abb70cfc}" ma:internalName="TaxCatchAll" ma:showField="CatchAllData" ma:web="83f96245-f9e5-4b70-b648-9810454ad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e6002c-dc1a-4d55-a0cd-e322223912c3">
      <Terms xmlns="http://schemas.microsoft.com/office/infopath/2007/PartnerControls"/>
    </lcf76f155ced4ddcb4097134ff3c332f>
    <version xmlns="bbe6002c-dc1a-4d55-a0cd-e322223912c3" xsi:nil="true"/>
    <Standard xmlns="bbe6002c-dc1a-4d55-a0cd-e322223912c3" xsi:nil="true"/>
    <TaxCatchAll xmlns="83f96245-f9e5-4b70-b648-9810454ad2f4" xsi:nil="true"/>
  </documentManagement>
</p:properties>
</file>

<file path=customXml/itemProps1.xml><?xml version="1.0" encoding="utf-8"?>
<ds:datastoreItem xmlns:ds="http://schemas.openxmlformats.org/officeDocument/2006/customXml" ds:itemID="{4C1C700D-75D3-4EF5-8C83-838DFA8DC0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e6002c-dc1a-4d55-a0cd-e322223912c3"/>
    <ds:schemaRef ds:uri="83f96245-f9e5-4b70-b648-9810454ad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32BEC8-357C-4121-A2C5-71A46F7F3C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04FF0B-B520-47F4-AB35-BF5532B7D662}">
  <ds:schemaRefs>
    <ds:schemaRef ds:uri="83f96245-f9e5-4b70-b648-9810454ad2f4"/>
    <ds:schemaRef ds:uri="bbe6002c-dc1a-4d55-a0cd-e322223912c3"/>
    <ds:schemaRef ds:uri="bff9f7aa-aa54-4133-9bd6-20b3576fe00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BSH-Praesentation</Template>
  <TotalTime>3</TotalTime>
  <Words>1048</Words>
  <Application>Microsoft Office PowerPoint</Application>
  <PresentationFormat>自定义</PresentationFormat>
  <Paragraphs>154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Wingdings</vt:lpstr>
      <vt:lpstr>Microsoft YaHei</vt:lpstr>
      <vt:lpstr>Times New Roman</vt:lpstr>
      <vt:lpstr>Arial</vt:lpstr>
      <vt:lpstr>KaiTi</vt:lpstr>
      <vt:lpstr>BSH-Praesentation</vt:lpstr>
      <vt:lpstr>Problem solving booklet_ Compartment temperature difference</vt:lpstr>
      <vt:lpstr>PowerPoint 演示文稿</vt:lpstr>
      <vt:lpstr>PowerPoint 演示文稿</vt:lpstr>
      <vt:lpstr>PowerPoint 演示文稿</vt:lpstr>
      <vt:lpstr>PowerPoint 演示文稿</vt:lpstr>
      <vt:lpstr>影响因素鱼骨图</vt:lpstr>
      <vt:lpstr>主要影响因素</vt:lpstr>
      <vt:lpstr>问题机制</vt:lpstr>
      <vt:lpstr>问题复现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Trost (ZKK); Steenblock (ZGI); Simon (IT-EMEA/TW-W)</Manager>
  <Company>BSH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PRF_66_20170705_8D_Ice-Crusher-Delamination</dc:title>
  <dc:subject>BSH Templates</dc:subject>
  <dc:creator>Joerg Hillmann</dc:creator>
  <cp:lastModifiedBy>Liu Xiangyu (BSH GDE-CLBSA1)</cp:lastModifiedBy>
  <cp:revision>2</cp:revision>
  <dcterms:created xsi:type="dcterms:W3CDTF">2015-11-03T11:01:06Z</dcterms:created>
  <dcterms:modified xsi:type="dcterms:W3CDTF">2025-11-28T05:05:44Z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tilFooter">
    <vt:lpwstr>20.09.2010-XXX-Thema des Vortrags I Abt. I</vt:lpwstr>
  </property>
  <property fmtid="{D5CDD505-2E9C-101B-9397-08002B2CF9AE}" pid="3" name="ContentTypeId">
    <vt:lpwstr>0x01010066689D152F0B3B4B8E44349FCA711FF5</vt:lpwstr>
  </property>
  <property fmtid="{D5CDD505-2E9C-101B-9397-08002B2CF9AE}" pid="4" name="_dlc_DocIdItemGuid">
    <vt:lpwstr>6765d7e7-1fe2-475b-a93b-90137ae85036</vt:lpwstr>
  </property>
  <property fmtid="{D5CDD505-2E9C-101B-9397-08002B2CF9AE}" pid="5" name="MediaServiceImageTags">
    <vt:lpwstr/>
  </property>
</Properties>
</file>