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5" r:id="rId5"/>
    <p:sldId id="348" r:id="rId6"/>
    <p:sldId id="349" r:id="rId7"/>
    <p:sldId id="333" r:id="rId8"/>
    <p:sldId id="257" r:id="rId9"/>
    <p:sldId id="317" r:id="rId10"/>
    <p:sldId id="353" r:id="rId11"/>
    <p:sldId id="343" r:id="rId12"/>
    <p:sldId id="344" r:id="rId13"/>
    <p:sldId id="345" r:id="rId14"/>
    <p:sldId id="350" r:id="rId15"/>
    <p:sldId id="269" r:id="rId16"/>
    <p:sldId id="351" r:id="rId17"/>
    <p:sldId id="346" r:id="rId18"/>
    <p:sldId id="352" r:id="rId19"/>
    <p:sldId id="347" r:id="rId20"/>
  </p:sldIdLst>
  <p:sldSz cx="9540875" cy="6661150"/>
  <p:notesSz cx="6797675" cy="9926638"/>
  <p:embeddedFontLst>
    <p:embeddedFont>
      <p:font typeface="Microsoft YaHei" panose="020B0503020204020204" pitchFamily="34" charset="-122"/>
      <p:regular r:id="rId23"/>
      <p:bold r:id="rId24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>
          <p15:clr>
            <a:srgbClr val="A4A3A4"/>
          </p15:clr>
        </p15:guide>
        <p15:guide id="2" orient="horz" pos="3855">
          <p15:clr>
            <a:srgbClr val="A4A3A4"/>
          </p15:clr>
        </p15:guide>
        <p15:guide id="3" pos="2495">
          <p15:clr>
            <a:srgbClr val="A4A3A4"/>
          </p15:clr>
        </p15:guide>
        <p15:guide id="4" pos="3515">
          <p15:clr>
            <a:srgbClr val="A4A3A4"/>
          </p15:clr>
        </p15:guide>
        <p15:guide id="5" pos="3629">
          <p15:clr>
            <a:srgbClr val="A4A3A4"/>
          </p15:clr>
        </p15:guide>
        <p15:guide id="6" pos="2381">
          <p15:clr>
            <a:srgbClr val="A4A3A4"/>
          </p15:clr>
        </p15:guide>
        <p15:guide id="7" pos="4649">
          <p15:clr>
            <a:srgbClr val="A4A3A4"/>
          </p15:clr>
        </p15:guide>
        <p15:guide id="8" pos="4762">
          <p15:clr>
            <a:srgbClr val="A4A3A4"/>
          </p15:clr>
        </p15:guide>
        <p15:guide id="9" pos="1361">
          <p15:clr>
            <a:srgbClr val="A4A3A4"/>
          </p15:clr>
        </p15:guide>
        <p15:guide id="10" pos="12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15A"/>
    <a:srgbClr val="FFFF00"/>
    <a:srgbClr val="FF5050"/>
    <a:srgbClr val="CEB6AA"/>
    <a:srgbClr val="FF7C80"/>
    <a:srgbClr val="0050A5"/>
    <a:srgbClr val="FFFFFF"/>
    <a:srgbClr val="D9D9D9"/>
    <a:srgbClr val="003399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18" y="53"/>
      </p:cViewPr>
      <p:guideLst>
        <p:guide orient="horz" pos="1021"/>
        <p:guide orient="horz" pos="3855"/>
        <p:guide pos="2495"/>
        <p:guide pos="3515"/>
        <p:guide pos="3629"/>
        <p:guide pos="2381"/>
        <p:guide pos="4649"/>
        <p:guide pos="4762"/>
        <p:guide pos="1361"/>
        <p:guide pos="12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69F1F4-BB08-4A13-8DEB-55CE30C97A90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3425" y="744538"/>
            <a:ext cx="53324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2A2EEC-23B4-4E74-8074-D6EA744CAA5B}" type="slidenum">
              <a:rPr lang="de-DE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532AA5-4CA6-4A3C-8BED-5F1C14B69B66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2EEC-23B4-4E74-8074-D6EA744CAA5B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91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net.bshg.com/global/intranet/EN/communications/news/Documents/Video/profil_de.html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0" y="3240088"/>
            <a:ext cx="9537700" cy="3059112"/>
          </a:xfrm>
          <a:prstGeom prst="rect">
            <a:avLst/>
          </a:prstGeom>
          <a:solidFill>
            <a:srgbClr val="007832"/>
          </a:solidFill>
          <a:ln w="13970" algn="ctr">
            <a:solidFill>
              <a:srgbClr val="007832"/>
            </a:solidFill>
            <a:miter lim="800000"/>
            <a:headEnd/>
            <a:tailEnd/>
          </a:ln>
          <a:effectLst/>
        </p:spPr>
        <p:txBody>
          <a:bodyPr rot="10800000" vert="eaVert" wrap="square" lIns="90000" tIns="90000" rIns="90000" bIns="90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8775" y="3417888"/>
            <a:ext cx="3419475" cy="2700337"/>
          </a:xfrm>
          <a:solidFill>
            <a:schemeClr val="hlink"/>
          </a:solidFill>
        </p:spPr>
        <p:txBody>
          <a:bodyPr/>
          <a:lstStyle>
            <a:lvl1pPr marL="0" indent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pic>
        <p:nvPicPr>
          <p:cNvPr id="7183" name="Picture 15" descr="BSH-Logo_A4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7113" y="557213"/>
            <a:ext cx="1463675" cy="433387"/>
          </a:xfrm>
          <a:prstGeom prst="rect">
            <a:avLst/>
          </a:prstGeom>
          <a:noFill/>
        </p:spPr>
      </p:pic>
      <p:pic>
        <p:nvPicPr>
          <p:cNvPr id="8" name="Picture 20"/>
          <p:cNvPicPr>
            <a:picLocks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76688" y="3241675"/>
            <a:ext cx="5578475" cy="3055938"/>
          </a:xfrm>
          <a:prstGeom prst="rect">
            <a:avLst/>
          </a:prstGeom>
          <a:noFill/>
          <a:ln w="6350" cap="sq">
            <a:noFill/>
            <a:miter lim="800000"/>
            <a:headEnd/>
            <a:tailEnd/>
          </a:ln>
          <a:effectLst/>
        </p:spPr>
      </p:pic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58775" y="2700000"/>
            <a:ext cx="8816975" cy="360363"/>
          </a:xfrm>
        </p:spPr>
        <p:txBody>
          <a:bodyPr/>
          <a:lstStyle>
            <a:lvl1pPr>
              <a:defRPr sz="26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 Box 46"/>
          <p:cNvSpPr txBox="1">
            <a:spLocks noChangeArrowheads="1"/>
          </p:cNvSpPr>
          <p:nvPr userDrawn="1"/>
        </p:nvSpPr>
        <p:spPr bwMode="auto">
          <a:xfrm>
            <a:off x="358775" y="6346800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spcBef>
                <a:spcPct val="50000"/>
              </a:spcBef>
            </a:pPr>
            <a:r>
              <a:rPr lang="de-DE" sz="800" noProof="0"/>
              <a:t>B S H   H A U S G E R Ä T E   G R</a:t>
            </a:r>
            <a:r>
              <a:rPr lang="de-DE" sz="800" baseline="0" noProof="0"/>
              <a:t> U P P E</a:t>
            </a:r>
            <a:endParaRPr lang="de-DE" sz="800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2" name="Line 40"/>
          <p:cNvSpPr>
            <a:spLocks noChangeShapeType="1"/>
          </p:cNvSpPr>
          <p:nvPr userDrawn="1"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10"/>
          </p:nvPr>
        </p:nvSpPr>
        <p:spPr>
          <a:xfrm>
            <a:off x="360437" y="1620575"/>
            <a:ext cx="8820000" cy="45000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3240088"/>
            <a:ext cx="9537700" cy="3059112"/>
          </a:xfrm>
          <a:prstGeom prst="rect">
            <a:avLst/>
          </a:prstGeom>
          <a:solidFill>
            <a:schemeClr val="hlink"/>
          </a:solidFill>
          <a:ln w="63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1200" noProof="0">
              <a:solidFill>
                <a:srgbClr val="000000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358775" y="6405563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50000"/>
              </a:spcBef>
              <a:defRPr/>
            </a:pPr>
            <a:r>
              <a:rPr lang="en-US" sz="800">
                <a:solidFill>
                  <a:srgbClr val="000000"/>
                </a:solidFill>
              </a:rPr>
              <a:t>B S H   H A U S G E R Ä T E   G R U P P E</a:t>
            </a:r>
          </a:p>
        </p:txBody>
      </p:sp>
      <p:pic>
        <p:nvPicPr>
          <p:cNvPr id="7" name="Picture 15" descr="BSH-Logo_A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7113" y="557213"/>
            <a:ext cx="1463675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775" y="2700338"/>
            <a:ext cx="8816975" cy="396875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noProof="0"/>
              <a:t>Titelmasterformat durch Klicken bearbeiten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8775" y="3417888"/>
            <a:ext cx="3419475" cy="2700337"/>
          </a:xfrm>
          <a:noFill/>
        </p:spPr>
        <p:txBody>
          <a:bodyPr/>
          <a:lstStyle>
            <a:lvl1pPr marL="0" indent="0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Anlass der Präsentation</a:t>
            </a:r>
          </a:p>
          <a:p>
            <a:endParaRPr lang="en-US" noProof="0"/>
          </a:p>
          <a:p>
            <a:r>
              <a:rPr lang="en-US" noProof="0"/>
              <a:t>TT. Monat JJJJ</a:t>
            </a:r>
          </a:p>
          <a:p>
            <a:r>
              <a:rPr lang="en-US" noProof="0"/>
              <a:t>Vortragender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1079500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1063" name="Line 39"/>
          <p:cNvSpPr>
            <a:spLocks noChangeShapeType="1"/>
          </p:cNvSpPr>
          <p:nvPr/>
        </p:nvSpPr>
        <p:spPr bwMode="auto">
          <a:xfrm>
            <a:off x="0" y="89852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64" name="Line 40"/>
          <p:cNvSpPr>
            <a:spLocks noChangeShapeType="1"/>
          </p:cNvSpPr>
          <p:nvPr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65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8775" y="1620838"/>
            <a:ext cx="8816975" cy="44989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70" name="Text Box 46"/>
          <p:cNvSpPr txBox="1">
            <a:spLocks noChangeArrowheads="1"/>
          </p:cNvSpPr>
          <p:nvPr/>
        </p:nvSpPr>
        <p:spPr bwMode="auto">
          <a:xfrm>
            <a:off x="358775" y="6347205"/>
            <a:ext cx="3600450" cy="2159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de-DE" sz="800" noProof="0"/>
              <a:t>B S H   H A U S G E R Ä T E   G R</a:t>
            </a:r>
            <a:r>
              <a:rPr lang="de-DE" sz="800" baseline="0" noProof="0"/>
              <a:t> U P P E</a:t>
            </a:r>
            <a:endParaRPr lang="de-DE" sz="800" noProof="0"/>
          </a:p>
        </p:txBody>
      </p:sp>
      <p:pic>
        <p:nvPicPr>
          <p:cNvPr id="1079" name="Picture 55" descr="BSH-Logo_A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75563" y="233363"/>
            <a:ext cx="1463675" cy="433387"/>
          </a:xfrm>
          <a:prstGeom prst="rect">
            <a:avLst/>
          </a:prstGeom>
          <a:noFill/>
        </p:spPr>
      </p:pic>
      <p:sp>
        <p:nvSpPr>
          <p:cNvPr id="11" name="Line 40_"/>
          <p:cNvSpPr>
            <a:spLocks noChangeShapeType="1"/>
          </p:cNvSpPr>
          <p:nvPr/>
        </p:nvSpPr>
        <p:spPr bwMode="auto">
          <a:xfrm>
            <a:off x="0" y="6302375"/>
            <a:ext cx="954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3" name="Textfeld 12"/>
          <p:cNvSpPr txBox="1"/>
          <p:nvPr userDrawn="1"/>
        </p:nvSpPr>
        <p:spPr>
          <a:xfrm>
            <a:off x="3959986" y="6347205"/>
            <a:ext cx="5219700" cy="2159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kumimoji="0" lang="en-US" sz="800" b="0" i="0" u="none" baseline="0">
                <a:solidFill>
                  <a:schemeClr val="tx1"/>
                </a:solidFill>
                <a:effectLst/>
                <a:latin typeface="Arial"/>
              </a:rPr>
              <a:t> I Slide: </a:t>
            </a:r>
            <a:fld id="{35281C45-19FC-414C-97D3-3D1CC3752485}" type="slidenum">
              <a:rPr kumimoji="0" lang="en-US" sz="800" b="0" i="0" u="none" baseline="0" smtClean="0">
                <a:solidFill>
                  <a:schemeClr val="tx1"/>
                </a:solidFill>
                <a:effectLst/>
                <a:latin typeface="Arial"/>
              </a:rPr>
              <a:pPr algn="r"/>
              <a:t>‹#›</a:t>
            </a:fld>
            <a:endParaRPr kumimoji="0" lang="en-US" sz="800" b="0" i="0" u="none" baseline="0">
              <a:solidFill>
                <a:schemeClr val="tx1"/>
              </a:solidFill>
              <a:effectLst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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17621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2pPr>
      <a:lvl3pPr marL="985838" indent="-1778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3pPr>
      <a:lvl4pPr marL="1346200" indent="-1809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</a:defRPr>
      </a:lvl4pPr>
      <a:lvl5pPr marL="1704975" indent="-17938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</a:defRPr>
      </a:lvl5pPr>
      <a:lvl6pPr marL="21621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6pPr>
      <a:lvl7pPr marL="26193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7pPr>
      <a:lvl8pPr marL="30765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8pPr>
      <a:lvl9pPr marL="3533775" indent="-179388" algn="l" rtl="0" eaLnBrk="1" fontAlgn="base" hangingPunct="1">
        <a:spcBef>
          <a:spcPct val="20000"/>
        </a:spcBef>
        <a:spcAft>
          <a:spcPct val="0"/>
        </a:spcAft>
        <a:buFont typeface="Arial" charset="0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752194"/>
            <a:ext cx="5002924" cy="1405986"/>
          </a:xfrm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latin typeface="+mn-lt"/>
                <a:ea typeface="华文中宋" panose="02010600040101010101" pitchFamily="2" charset="-122"/>
              </a:rPr>
              <a:t>Problem solving booklet_ </a:t>
            </a:r>
            <a:r>
              <a:rPr lang="en-US" sz="2000" dirty="0"/>
              <a:t>Compartment inner condensation</a:t>
            </a:r>
            <a:endParaRPr lang="en-US" sz="2000" dirty="0">
              <a:solidFill>
                <a:schemeClr val="bg1"/>
              </a:solidFill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8680" name="Picture 8">
            <a:extLst>
              <a:ext uri="{FF2B5EF4-FFF2-40B4-BE49-F238E27FC236}">
                <a16:creationId xmlns:a16="http://schemas.microsoft.com/office/drawing/2014/main" id="{13BE5CAA-6AA0-7FEB-FB20-212B05F95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045" y="3256805"/>
            <a:ext cx="1386296" cy="306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2" name="Picture 10">
            <a:extLst>
              <a:ext uri="{FF2B5EF4-FFF2-40B4-BE49-F238E27FC236}">
                <a16:creationId xmlns:a16="http://schemas.microsoft.com/office/drawing/2014/main" id="{338FAE03-0439-CF40-6D7C-99650A09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437" y="3234630"/>
            <a:ext cx="2740850" cy="305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0">
            <a:extLst>
              <a:ext uri="{FF2B5EF4-FFF2-40B4-BE49-F238E27FC236}">
                <a16:creationId xmlns:a16="http://schemas.microsoft.com/office/drawing/2014/main" id="{8130B69D-067E-EBB5-FA22-E68EEF31CEE2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690817" y="-179425"/>
            <a:ext cx="10922507" cy="6840575"/>
          </a:xfrm>
          <a:prstGeom prst="rect">
            <a:avLst/>
          </a:prstGeom>
          <a:noFill/>
          <a:ln w="6350" cap="sq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/>
            </a:outerShdw>
            <a:reflection endPos="0" dist="50800" dir="5400000" sy="-100000" algn="bl" rotWithShape="0"/>
            <a:softEdge rad="63500"/>
          </a:effec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85DCD7FB-64E2-942A-6850-488A35D870DC}"/>
              </a:ext>
            </a:extLst>
          </p:cNvPr>
          <p:cNvGrpSpPr/>
          <p:nvPr/>
        </p:nvGrpSpPr>
        <p:grpSpPr>
          <a:xfrm>
            <a:off x="3695058" y="519707"/>
            <a:ext cx="3775380" cy="702829"/>
            <a:chOff x="3695057" y="372026"/>
            <a:chExt cx="4289557" cy="798549"/>
          </a:xfrm>
        </p:grpSpPr>
        <p:sp>
          <p:nvSpPr>
            <p:cNvPr id="6" name="圆角矩形 4">
              <a:extLst>
                <a:ext uri="{FF2B5EF4-FFF2-40B4-BE49-F238E27FC236}">
                  <a16:creationId xmlns:a16="http://schemas.microsoft.com/office/drawing/2014/main" id="{FA283882-8CC6-B573-DBE3-E5993EB4B0A1}"/>
                </a:ext>
              </a:extLst>
            </p:cNvPr>
            <p:cNvSpPr/>
            <p:nvPr/>
          </p:nvSpPr>
          <p:spPr>
            <a:xfrm>
              <a:off x="3695057" y="372026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01</a:t>
              </a:r>
              <a:endParaRPr lang="zh-CN" altLang="en-US" sz="2400" b="1"/>
            </a:p>
          </p:txBody>
        </p:sp>
        <p:sp>
          <p:nvSpPr>
            <p:cNvPr id="7" name="圆角矩形 58">
              <a:extLst>
                <a:ext uri="{FF2B5EF4-FFF2-40B4-BE49-F238E27FC236}">
                  <a16:creationId xmlns:a16="http://schemas.microsoft.com/office/drawing/2014/main" id="{485803BE-8879-6F42-8F74-0CEA01BEEC39}"/>
                </a:ext>
              </a:extLst>
            </p:cNvPr>
            <p:cNvSpPr/>
            <p:nvPr/>
          </p:nvSpPr>
          <p:spPr>
            <a:xfrm>
              <a:off x="4635437" y="372026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问题描述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33D801E-D7C0-C7B7-C69C-28A171D657F8}"/>
              </a:ext>
            </a:extLst>
          </p:cNvPr>
          <p:cNvGrpSpPr/>
          <p:nvPr/>
        </p:nvGrpSpPr>
        <p:grpSpPr>
          <a:xfrm>
            <a:off x="3695057" y="1722375"/>
            <a:ext cx="3775380" cy="714588"/>
            <a:chOff x="3695057" y="1775895"/>
            <a:chExt cx="4289558" cy="811909"/>
          </a:xfrm>
        </p:grpSpPr>
        <p:sp>
          <p:nvSpPr>
            <p:cNvPr id="9" name="圆角矩形 5">
              <a:extLst>
                <a:ext uri="{FF2B5EF4-FFF2-40B4-BE49-F238E27FC236}">
                  <a16:creationId xmlns:a16="http://schemas.microsoft.com/office/drawing/2014/main" id="{0C252401-6B8C-4723-CD91-8ED2B6D25E73}"/>
                </a:ext>
              </a:extLst>
            </p:cNvPr>
            <p:cNvSpPr/>
            <p:nvPr/>
          </p:nvSpPr>
          <p:spPr>
            <a:xfrm>
              <a:off x="3695057" y="1775895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02</a:t>
              </a:r>
              <a:endParaRPr lang="zh-CN" altLang="en-US" sz="2400" b="1"/>
            </a:p>
          </p:txBody>
        </p:sp>
        <p:sp>
          <p:nvSpPr>
            <p:cNvPr id="10" name="圆角矩形 59">
              <a:extLst>
                <a:ext uri="{FF2B5EF4-FFF2-40B4-BE49-F238E27FC236}">
                  <a16:creationId xmlns:a16="http://schemas.microsoft.com/office/drawing/2014/main" id="{7967BD37-E116-8E8A-06F3-A40CB61E15B4}"/>
                </a:ext>
              </a:extLst>
            </p:cNvPr>
            <p:cNvSpPr/>
            <p:nvPr/>
          </p:nvSpPr>
          <p:spPr>
            <a:xfrm>
              <a:off x="4635438" y="178925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问题分析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4429A0E-968C-C184-F195-BB17775607B5}"/>
              </a:ext>
            </a:extLst>
          </p:cNvPr>
          <p:cNvGrpSpPr/>
          <p:nvPr/>
        </p:nvGrpSpPr>
        <p:grpSpPr>
          <a:xfrm>
            <a:off x="3695057" y="2936802"/>
            <a:ext cx="3829962" cy="713015"/>
            <a:chOff x="3695057" y="3427722"/>
            <a:chExt cx="4289558" cy="798577"/>
          </a:xfrm>
        </p:grpSpPr>
        <p:sp>
          <p:nvSpPr>
            <p:cNvPr id="12" name="圆角矩形 6">
              <a:extLst>
                <a:ext uri="{FF2B5EF4-FFF2-40B4-BE49-F238E27FC236}">
                  <a16:creationId xmlns:a16="http://schemas.microsoft.com/office/drawing/2014/main" id="{894F0BF2-0B32-FD23-9340-86B6BB1F721B}"/>
                </a:ext>
              </a:extLst>
            </p:cNvPr>
            <p:cNvSpPr/>
            <p:nvPr/>
          </p:nvSpPr>
          <p:spPr>
            <a:xfrm>
              <a:off x="3695057" y="3427750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03</a:t>
              </a:r>
              <a:endParaRPr lang="zh-CN" altLang="en-US" sz="2400" b="1"/>
            </a:p>
          </p:txBody>
        </p:sp>
        <p:sp>
          <p:nvSpPr>
            <p:cNvPr id="13" name="圆角矩形 60">
              <a:extLst>
                <a:ext uri="{FF2B5EF4-FFF2-40B4-BE49-F238E27FC236}">
                  <a16:creationId xmlns:a16="http://schemas.microsoft.com/office/drawing/2014/main" id="{FBFCB69C-679C-39C9-0380-8B006A5FBA92}"/>
                </a:ext>
              </a:extLst>
            </p:cNvPr>
            <p:cNvSpPr/>
            <p:nvPr/>
          </p:nvSpPr>
          <p:spPr>
            <a:xfrm>
              <a:off x="4635438" y="3427722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定义方案</a:t>
              </a:r>
            </a:p>
          </p:txBody>
        </p:sp>
      </p:grpSp>
      <p:sp>
        <p:nvSpPr>
          <p:cNvPr id="16" name="圆角矩形 16">
            <a:extLst>
              <a:ext uri="{FF2B5EF4-FFF2-40B4-BE49-F238E27FC236}">
                <a16:creationId xmlns:a16="http://schemas.microsoft.com/office/drawing/2014/main" id="{5F7EE95C-960E-323F-0390-5C14C9C8FD39}"/>
              </a:ext>
            </a:extLst>
          </p:cNvPr>
          <p:cNvSpPr/>
          <p:nvPr/>
        </p:nvSpPr>
        <p:spPr>
          <a:xfrm>
            <a:off x="-1619563" y="2276475"/>
            <a:ext cx="4238884" cy="2305050"/>
          </a:xfrm>
          <a:prstGeom prst="roundRect">
            <a:avLst>
              <a:gd name="adj" fmla="val 50000"/>
            </a:avLst>
          </a:prstGeom>
          <a:solidFill>
            <a:srgbClr val="9CC5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圆角矩形 1">
            <a:extLst>
              <a:ext uri="{FF2B5EF4-FFF2-40B4-BE49-F238E27FC236}">
                <a16:creationId xmlns:a16="http://schemas.microsoft.com/office/drawing/2014/main" id="{550784C9-CBCC-8895-E167-9C3E0CC84074}"/>
              </a:ext>
            </a:extLst>
          </p:cNvPr>
          <p:cNvSpPr/>
          <p:nvPr/>
        </p:nvSpPr>
        <p:spPr>
          <a:xfrm>
            <a:off x="-1443598" y="2355989"/>
            <a:ext cx="3946438" cy="2146022"/>
          </a:xfrm>
          <a:prstGeom prst="roundRect">
            <a:avLst>
              <a:gd name="adj" fmla="val 50000"/>
            </a:avLst>
          </a:prstGeom>
          <a:solidFill>
            <a:srgbClr val="005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0050A5"/>
              </a:solidFill>
            </a:endParaRPr>
          </a:p>
        </p:txBody>
      </p:sp>
      <p:sp>
        <p:nvSpPr>
          <p:cNvPr id="18" name="TextBox 78">
            <a:extLst>
              <a:ext uri="{FF2B5EF4-FFF2-40B4-BE49-F238E27FC236}">
                <a16:creationId xmlns:a16="http://schemas.microsoft.com/office/drawing/2014/main" id="{12DA5A98-F385-5C4A-2AAA-B38FA8C07F00}"/>
              </a:ext>
            </a:extLst>
          </p:cNvPr>
          <p:cNvSpPr txBox="1"/>
          <p:nvPr/>
        </p:nvSpPr>
        <p:spPr>
          <a:xfrm>
            <a:off x="125119" y="3657218"/>
            <a:ext cx="159370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999" b="1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CONTENTS</a:t>
            </a:r>
            <a:endParaRPr lang="zh-CN" altLang="en-US" sz="1999" b="1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19" name="TextBox 79">
            <a:extLst>
              <a:ext uri="{FF2B5EF4-FFF2-40B4-BE49-F238E27FC236}">
                <a16:creationId xmlns:a16="http://schemas.microsoft.com/office/drawing/2014/main" id="{34021180-7045-671B-659D-429F32A73EB3}"/>
              </a:ext>
            </a:extLst>
          </p:cNvPr>
          <p:cNvSpPr txBox="1"/>
          <p:nvPr/>
        </p:nvSpPr>
        <p:spPr>
          <a:xfrm>
            <a:off x="181224" y="2865131"/>
            <a:ext cx="1481496" cy="769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399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目 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7193772-5B4B-1E1A-DFCC-BF2036B13782}"/>
              </a:ext>
            </a:extLst>
          </p:cNvPr>
          <p:cNvGrpSpPr/>
          <p:nvPr/>
        </p:nvGrpSpPr>
        <p:grpSpPr>
          <a:xfrm>
            <a:off x="3695056" y="4149656"/>
            <a:ext cx="3830096" cy="713040"/>
            <a:chOff x="3695056" y="4950575"/>
            <a:chExt cx="4289558" cy="798577"/>
          </a:xfrm>
        </p:grpSpPr>
        <p:sp>
          <p:nvSpPr>
            <p:cNvPr id="23" name="圆角矩形 6">
              <a:extLst>
                <a:ext uri="{FF2B5EF4-FFF2-40B4-BE49-F238E27FC236}">
                  <a16:creationId xmlns:a16="http://schemas.microsoft.com/office/drawing/2014/main" id="{AF45AA50-1FBC-0D02-6831-625D23EDDEB0}"/>
                </a:ext>
              </a:extLst>
            </p:cNvPr>
            <p:cNvSpPr/>
            <p:nvPr/>
          </p:nvSpPr>
          <p:spPr>
            <a:xfrm>
              <a:off x="3695056" y="4950603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04</a:t>
              </a:r>
              <a:endParaRPr lang="zh-CN" altLang="en-US" sz="2400" b="1"/>
            </a:p>
          </p:txBody>
        </p:sp>
        <p:sp>
          <p:nvSpPr>
            <p:cNvPr id="24" name="圆角矩形 60">
              <a:extLst>
                <a:ext uri="{FF2B5EF4-FFF2-40B4-BE49-F238E27FC236}">
                  <a16:creationId xmlns:a16="http://schemas.microsoft.com/office/drawing/2014/main" id="{B6E444A1-FFE7-E0DB-F82C-E8D441112ED7}"/>
                </a:ext>
              </a:extLst>
            </p:cNvPr>
            <p:cNvSpPr/>
            <p:nvPr/>
          </p:nvSpPr>
          <p:spPr>
            <a:xfrm>
              <a:off x="4635437" y="495057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方案验证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05DEC9B-70C7-B139-F49A-00FFF7561313}"/>
              </a:ext>
            </a:extLst>
          </p:cNvPr>
          <p:cNvGrpSpPr/>
          <p:nvPr/>
        </p:nvGrpSpPr>
        <p:grpSpPr>
          <a:xfrm>
            <a:off x="3730539" y="5362536"/>
            <a:ext cx="3830091" cy="713039"/>
            <a:chOff x="3730539" y="5862445"/>
            <a:chExt cx="4289558" cy="798577"/>
          </a:xfrm>
        </p:grpSpPr>
        <p:sp>
          <p:nvSpPr>
            <p:cNvPr id="25" name="圆角矩形 6">
              <a:extLst>
                <a:ext uri="{FF2B5EF4-FFF2-40B4-BE49-F238E27FC236}">
                  <a16:creationId xmlns:a16="http://schemas.microsoft.com/office/drawing/2014/main" id="{1B5FD29B-2D56-6EA4-2EEE-4FD78CFB38C1}"/>
                </a:ext>
              </a:extLst>
            </p:cNvPr>
            <p:cNvSpPr/>
            <p:nvPr/>
          </p:nvSpPr>
          <p:spPr>
            <a:xfrm>
              <a:off x="3730539" y="5862473"/>
              <a:ext cx="834050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/>
                <a:t>05</a:t>
              </a:r>
              <a:endParaRPr lang="zh-CN" altLang="en-US" sz="2400" b="1"/>
            </a:p>
          </p:txBody>
        </p:sp>
        <p:sp>
          <p:nvSpPr>
            <p:cNvPr id="26" name="圆角矩形 60">
              <a:extLst>
                <a:ext uri="{FF2B5EF4-FFF2-40B4-BE49-F238E27FC236}">
                  <a16:creationId xmlns:a16="http://schemas.microsoft.com/office/drawing/2014/main" id="{0F87BA47-2A66-074F-57B0-1B0336666F3F}"/>
                </a:ext>
              </a:extLst>
            </p:cNvPr>
            <p:cNvSpPr/>
            <p:nvPr/>
          </p:nvSpPr>
          <p:spPr>
            <a:xfrm>
              <a:off x="4670920" y="5862445"/>
              <a:ext cx="3349177" cy="798549"/>
            </a:xfrm>
            <a:prstGeom prst="roundRect">
              <a:avLst>
                <a:gd name="adj" fmla="val 50000"/>
              </a:avLst>
            </a:prstGeom>
            <a:solidFill>
              <a:srgbClr val="005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/>
                <a:t>总结</a:t>
              </a:r>
              <a:r>
                <a:rPr lang="en-US" altLang="zh-CN" sz="3200" b="1" dirty="0"/>
                <a:t>&amp;</a:t>
              </a:r>
              <a:r>
                <a:rPr lang="zh-CN" altLang="en-US" sz="3200" b="1" dirty="0"/>
                <a:t>启发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0536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2095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Part.01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</a:p>
        </p:txBody>
      </p:sp>
    </p:spTree>
    <p:extLst>
      <p:ext uri="{BB962C8B-B14F-4D97-AF65-F5344CB8AC3E}">
        <p14:creationId xmlns:p14="http://schemas.microsoft.com/office/powerpoint/2010/main" val="4600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C69EBC-8AEA-EFBD-3324-5DF2B6AB60F8}"/>
              </a:ext>
            </a:extLst>
          </p:cNvPr>
          <p:cNvSpPr/>
          <p:nvPr/>
        </p:nvSpPr>
        <p:spPr bwMode="auto">
          <a:xfrm>
            <a:off x="225437" y="1645028"/>
            <a:ext cx="2700000" cy="4475547"/>
          </a:xfrm>
          <a:prstGeom prst="roundRect">
            <a:avLst>
              <a:gd name="adj" fmla="val 4088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>
              <a:lnSpc>
                <a:spcPct val="200000"/>
              </a:lnSpc>
            </a:pPr>
            <a:endParaRPr lang="en-US" altLang="zh-CN" sz="1300" b="1" dirty="0">
              <a:solidFill>
                <a:schemeClr val="tx1"/>
              </a:solidFill>
              <a:latin typeface="+mj-lt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产品</a:t>
            </a:r>
            <a:r>
              <a:rPr lang="en-US" altLang="zh-CN" sz="1300" b="1" dirty="0">
                <a:solidFill>
                  <a:schemeClr val="tx1"/>
                </a:solidFill>
                <a:latin typeface="+mj-lt"/>
              </a:rPr>
              <a:t>: 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DengXian" panose="02010600030101010101" pitchFamily="2" charset="-122"/>
                <a:cs typeface="Aptos" panose="020B0004020202020204" pitchFamily="34" charset="0"/>
              </a:rPr>
              <a:t>MD 90 P-fit value 1_ PDF</a:t>
            </a:r>
            <a:endParaRPr lang="en-US" sz="1300" dirty="0">
              <a:solidFill>
                <a:schemeClr val="tx1"/>
              </a:solidFill>
              <a:latin typeface="+mj-lt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时间</a:t>
            </a:r>
            <a:r>
              <a:rPr lang="en-US" altLang="zh-CN" sz="1300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2025/12</a:t>
            </a:r>
          </a:p>
          <a:p>
            <a:pPr algn="just">
              <a:lnSpc>
                <a:spcPct val="200000"/>
              </a:lnSpc>
            </a:pP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软件</a:t>
            </a:r>
            <a:r>
              <a:rPr lang="en-US" altLang="zh-CN" sz="1300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P-fit_Value1_20251013</a:t>
            </a:r>
          </a:p>
          <a:p>
            <a:pPr algn="just">
              <a:lnSpc>
                <a:spcPct val="200000"/>
              </a:lnSpc>
            </a:pP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条件</a:t>
            </a:r>
            <a:r>
              <a:rPr lang="en-US" altLang="zh-CN" sz="1300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zh-CN" altLang="en-US" sz="13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TR=32</a:t>
            </a:r>
            <a:r>
              <a:rPr lang="zh-CN" altLang="en-US" sz="1300" dirty="0">
                <a:solidFill>
                  <a:schemeClr val="tx1"/>
                </a:solidFill>
                <a:latin typeface="+mj-lt"/>
              </a:rPr>
              <a:t>℃</a:t>
            </a: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+80% &amp; Set: 4/-18</a:t>
            </a:r>
          </a:p>
          <a:p>
            <a:pPr algn="just">
              <a:lnSpc>
                <a:spcPct val="200000"/>
              </a:lnSpc>
            </a:pP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         </a:t>
            </a:r>
            <a:r>
              <a:rPr lang="zh-CN" altLang="en-US" sz="1300" dirty="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zh-CN" sz="1300" dirty="0">
                <a:solidFill>
                  <a:schemeClr val="tx1"/>
                </a:solidFill>
                <a:latin typeface="+mj-lt"/>
              </a:rPr>
              <a:t>RC door opening test</a:t>
            </a:r>
            <a:r>
              <a:rPr lang="zh-CN" altLang="en-US" sz="1300" dirty="0">
                <a:solidFill>
                  <a:schemeClr val="tx1"/>
                </a:solidFill>
                <a:latin typeface="+mj-lt"/>
              </a:rPr>
              <a:t>）</a:t>
            </a:r>
            <a:endParaRPr lang="en-US" altLang="zh-CN" sz="1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 bwMode="auto">
          <a:xfrm>
            <a:off x="65764" y="433231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en-US" sz="2800" b="1" kern="0">
                <a:solidFill>
                  <a:srgbClr val="0050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.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问题描述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50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圆角矩形 6">
            <a:extLst>
              <a:ext uri="{FF2B5EF4-FFF2-40B4-BE49-F238E27FC236}">
                <a16:creationId xmlns:a16="http://schemas.microsoft.com/office/drawing/2014/main" id="{F9A3BCA1-4271-4119-D519-7AF193A35A46}"/>
              </a:ext>
            </a:extLst>
          </p:cNvPr>
          <p:cNvSpPr/>
          <p:nvPr/>
        </p:nvSpPr>
        <p:spPr>
          <a:xfrm>
            <a:off x="791877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背 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899986-D08E-3CC1-5927-AC3F270B0B21}"/>
              </a:ext>
            </a:extLst>
          </p:cNvPr>
          <p:cNvSpPr/>
          <p:nvPr/>
        </p:nvSpPr>
        <p:spPr bwMode="auto">
          <a:xfrm>
            <a:off x="3285437" y="1645028"/>
            <a:ext cx="2700000" cy="4475547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0000"/>
              </a:lnSpc>
            </a:pPr>
            <a:endParaRPr lang="en-US" altLang="zh-CN" sz="2000" b="1">
              <a:latin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2A21DB6-71D1-79F1-380B-8C7FA9CEB927}"/>
              </a:ext>
            </a:extLst>
          </p:cNvPr>
          <p:cNvSpPr/>
          <p:nvPr/>
        </p:nvSpPr>
        <p:spPr bwMode="auto">
          <a:xfrm>
            <a:off x="6255437" y="1645028"/>
            <a:ext cx="2700000" cy="4475547"/>
          </a:xfrm>
          <a:prstGeom prst="roundRect">
            <a:avLst>
              <a:gd name="adj" fmla="val 318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0000"/>
              </a:lnSpc>
            </a:pPr>
            <a:endParaRPr lang="en-US" altLang="zh-CN" sz="2000" b="1">
              <a:latin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CC120B5-7325-9EED-B0EC-E1DD15653397}"/>
              </a:ext>
            </a:extLst>
          </p:cNvPr>
          <p:cNvSpPr txBox="1"/>
          <p:nvPr/>
        </p:nvSpPr>
        <p:spPr>
          <a:xfrm>
            <a:off x="6297805" y="1737360"/>
            <a:ext cx="2583117" cy="831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just">
              <a:def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300" dirty="0">
                <a:latin typeface="+mj-lt"/>
              </a:rPr>
              <a:t>冷藏</a:t>
            </a:r>
            <a:r>
              <a:rPr lang="en-US" altLang="zh-CN" sz="1300" dirty="0">
                <a:latin typeface="+mj-lt"/>
              </a:rPr>
              <a:t>VFC </a:t>
            </a:r>
            <a:r>
              <a:rPr lang="zh-CN" altLang="en-US" sz="1300" dirty="0">
                <a:latin typeface="+mj-lt"/>
              </a:rPr>
              <a:t>隔墙下部与内胆接触的部位出现</a:t>
            </a:r>
            <a:r>
              <a:rPr lang="zh-CN" altLang="en-US" sz="1300" u="sng" dirty="0">
                <a:highlight>
                  <a:srgbClr val="FFFF00"/>
                </a:highlight>
                <a:latin typeface="+mj-lt"/>
              </a:rPr>
              <a:t>结冰</a:t>
            </a:r>
            <a:r>
              <a:rPr lang="en-US" altLang="zh-CN" sz="1300" u="sng" dirty="0">
                <a:highlight>
                  <a:srgbClr val="FFFF00"/>
                </a:highlight>
                <a:latin typeface="+mj-lt"/>
              </a:rPr>
              <a:t>,</a:t>
            </a:r>
            <a:r>
              <a:rPr lang="zh-CN" altLang="en-US" sz="1300" u="sng" dirty="0">
                <a:latin typeface="+mj-lt"/>
              </a:rPr>
              <a:t>其余地方无凝露。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914700-6D74-B4D7-0CB1-E0CF2578605B}"/>
              </a:ext>
            </a:extLst>
          </p:cNvPr>
          <p:cNvSpPr txBox="1"/>
          <p:nvPr/>
        </p:nvSpPr>
        <p:spPr>
          <a:xfrm>
            <a:off x="3293317" y="1755575"/>
            <a:ext cx="2692120" cy="360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altLang="zh-CN" sz="1200" dirty="0">
              <a:latin typeface="+mj-lt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1300" dirty="0"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▲</a:t>
            </a:r>
            <a:r>
              <a:rPr lang="en-US" altLang="zh-CN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一般要求</a:t>
            </a:r>
            <a:r>
              <a:rPr lang="en-US" altLang="zh-CN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RC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间室内无凝露。</a:t>
            </a:r>
            <a:endParaRPr lang="en-US" altLang="zh-CN" sz="1300" dirty="0"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1300" dirty="0"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▲</a:t>
            </a:r>
            <a:r>
              <a:rPr 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允许间室内有轻微雾状凝露，但要求在无加载条件下</a:t>
            </a:r>
            <a:r>
              <a:rPr lang="en-US" altLang="zh-CN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天内可以自行消失。</a:t>
            </a:r>
            <a:endParaRPr lang="en-US" altLang="zh-CN" sz="1300" dirty="0"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1300" dirty="0"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▲</a:t>
            </a:r>
            <a:r>
              <a:rPr 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 &lt;350L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冰箱，允许有小于</a:t>
            </a:r>
            <a:r>
              <a:rPr lang="en-US" altLang="zh-CN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8g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的凝露或凝露水。</a:t>
            </a:r>
            <a:endParaRPr lang="en-US" altLang="zh-CN" sz="1300" dirty="0"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1300" dirty="0"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▲</a:t>
            </a:r>
            <a:r>
              <a:rPr 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 &gt;350L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冰箱，允许有小于</a:t>
            </a:r>
            <a:r>
              <a:rPr lang="en-US" altLang="zh-CN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3g/100L</a:t>
            </a:r>
            <a:r>
              <a:rPr lang="zh-CN" altLang="en-US" sz="1300" dirty="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的凝露或者凝露水。</a:t>
            </a:r>
            <a:endParaRPr lang="en-US" sz="1300" dirty="0"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6">
            <a:extLst>
              <a:ext uri="{FF2B5EF4-FFF2-40B4-BE49-F238E27FC236}">
                <a16:creationId xmlns:a16="http://schemas.microsoft.com/office/drawing/2014/main" id="{34545130-2745-D557-45C9-4173684D56A4}"/>
              </a:ext>
            </a:extLst>
          </p:cNvPr>
          <p:cNvSpPr/>
          <p:nvPr/>
        </p:nvSpPr>
        <p:spPr>
          <a:xfrm>
            <a:off x="3818339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预 期</a:t>
            </a:r>
          </a:p>
        </p:txBody>
      </p:sp>
      <p:sp>
        <p:nvSpPr>
          <p:cNvPr id="19" name="圆角矩形 6">
            <a:extLst>
              <a:ext uri="{FF2B5EF4-FFF2-40B4-BE49-F238E27FC236}">
                <a16:creationId xmlns:a16="http://schemas.microsoft.com/office/drawing/2014/main" id="{A26794DF-C3E7-64DE-73E9-8140CD3D1887}"/>
              </a:ext>
            </a:extLst>
          </p:cNvPr>
          <p:cNvSpPr/>
          <p:nvPr/>
        </p:nvSpPr>
        <p:spPr>
          <a:xfrm>
            <a:off x="6827735" y="1251830"/>
            <a:ext cx="1567120" cy="503745"/>
          </a:xfrm>
          <a:prstGeom prst="roundRect">
            <a:avLst>
              <a:gd name="adj" fmla="val 20847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sym typeface="+mn-lt"/>
              </a:rPr>
              <a:t>实 际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07F7-B1C8-EF20-5A29-1A97051164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"/>
          <a:stretch/>
        </p:blipFill>
        <p:spPr bwMode="auto">
          <a:xfrm>
            <a:off x="6338096" y="2676525"/>
            <a:ext cx="2535485" cy="3382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矩形 3">
            <a:extLst>
              <a:ext uri="{FF2B5EF4-FFF2-40B4-BE49-F238E27FC236}">
                <a16:creationId xmlns:a16="http://schemas.microsoft.com/office/drawing/2014/main" id="{DA243D1D-CF12-6006-4294-38FFA41E972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5" y="3902392"/>
            <a:ext cx="561976" cy="1193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Part.02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6950" y="1014358"/>
            <a:ext cx="2338487" cy="3603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影响因素鱼骨图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86D0AE6-0FD4-0F6C-5DA5-7263692C1981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CE7F67F-0089-81A1-BC94-CCFB8DFA3F2A}"/>
              </a:ext>
            </a:extLst>
          </p:cNvPr>
          <p:cNvCxnSpPr>
            <a:cxnSpLocks/>
          </p:cNvCxnSpPr>
          <p:nvPr/>
        </p:nvCxnSpPr>
        <p:spPr bwMode="auto">
          <a:xfrm>
            <a:off x="585437" y="3600575"/>
            <a:ext cx="7699610" cy="1057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3CCEF8-25C1-BF60-2992-44F7926FB9D3}"/>
              </a:ext>
            </a:extLst>
          </p:cNvPr>
          <p:cNvCxnSpPr/>
          <p:nvPr/>
        </p:nvCxnSpPr>
        <p:spPr bwMode="auto">
          <a:xfrm>
            <a:off x="2272937" y="2295575"/>
            <a:ext cx="1215000" cy="130500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9358A68-B7D3-A572-6595-BA41A608BB23}"/>
              </a:ext>
            </a:extLst>
          </p:cNvPr>
          <p:cNvCxnSpPr/>
          <p:nvPr/>
        </p:nvCxnSpPr>
        <p:spPr bwMode="auto">
          <a:xfrm>
            <a:off x="5220437" y="2295575"/>
            <a:ext cx="1215000" cy="1305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781BA29-E1E7-7983-A33C-9C5E153F3F05}"/>
              </a:ext>
            </a:extLst>
          </p:cNvPr>
          <p:cNvCxnSpPr/>
          <p:nvPr/>
        </p:nvCxnSpPr>
        <p:spPr bwMode="auto">
          <a:xfrm flipH="1">
            <a:off x="1348924" y="3590001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11AC009-87F5-2269-3345-48B45F57442E}"/>
              </a:ext>
            </a:extLst>
          </p:cNvPr>
          <p:cNvCxnSpPr/>
          <p:nvPr/>
        </p:nvCxnSpPr>
        <p:spPr bwMode="auto">
          <a:xfrm flipH="1">
            <a:off x="4138924" y="3590001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2C3C568-FB35-62F6-911E-61D7D42DB1D0}"/>
              </a:ext>
            </a:extLst>
          </p:cNvPr>
          <p:cNvCxnSpPr/>
          <p:nvPr/>
        </p:nvCxnSpPr>
        <p:spPr bwMode="auto">
          <a:xfrm flipH="1">
            <a:off x="6795437" y="3611150"/>
            <a:ext cx="900000" cy="1170000"/>
          </a:xfrm>
          <a:prstGeom prst="line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B404524-09AC-3936-D317-AF0976AE7376}"/>
              </a:ext>
            </a:extLst>
          </p:cNvPr>
          <p:cNvSpPr txBox="1"/>
          <p:nvPr/>
        </p:nvSpPr>
        <p:spPr>
          <a:xfrm>
            <a:off x="2025437" y="1957020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人</a:t>
            </a:r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709ED9-B603-7789-C8B6-5B233ACD9167}"/>
              </a:ext>
            </a:extLst>
          </p:cNvPr>
          <p:cNvSpPr txBox="1"/>
          <p:nvPr/>
        </p:nvSpPr>
        <p:spPr>
          <a:xfrm>
            <a:off x="4995437" y="1969243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机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7AD99C-4C1C-EC48-20AF-8842966EE5FD}"/>
              </a:ext>
            </a:extLst>
          </p:cNvPr>
          <p:cNvSpPr txBox="1"/>
          <p:nvPr/>
        </p:nvSpPr>
        <p:spPr>
          <a:xfrm>
            <a:off x="1125437" y="4770575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料</a:t>
            </a:r>
            <a:endParaRPr 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4410FA-EA9D-8318-6DF5-9C0579F0BA05}"/>
              </a:ext>
            </a:extLst>
          </p:cNvPr>
          <p:cNvSpPr txBox="1"/>
          <p:nvPr/>
        </p:nvSpPr>
        <p:spPr>
          <a:xfrm>
            <a:off x="3915437" y="4770575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法</a:t>
            </a:r>
            <a:endParaRPr 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0A9EA6-108D-9A58-4F8C-FE3E5CB96BC0}"/>
              </a:ext>
            </a:extLst>
          </p:cNvPr>
          <p:cNvSpPr txBox="1"/>
          <p:nvPr/>
        </p:nvSpPr>
        <p:spPr>
          <a:xfrm>
            <a:off x="6570437" y="4760001"/>
            <a:ext cx="49500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环</a:t>
            </a:r>
            <a:endParaRPr 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07DC5D-827C-FCBF-7F18-E2FB19EE45D7}"/>
              </a:ext>
            </a:extLst>
          </p:cNvPr>
          <p:cNvSpPr txBox="1"/>
          <p:nvPr/>
        </p:nvSpPr>
        <p:spPr>
          <a:xfrm>
            <a:off x="1755437" y="3005375"/>
            <a:ext cx="112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测试人员操作</a:t>
            </a:r>
            <a:endParaRPr lang="en-US" sz="11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064C8D9-9484-5699-6801-CF1ED08AA626}"/>
              </a:ext>
            </a:extLst>
          </p:cNvPr>
          <p:cNvSpPr txBox="1"/>
          <p:nvPr/>
        </p:nvSpPr>
        <p:spPr>
          <a:xfrm>
            <a:off x="1223417" y="3736720"/>
            <a:ext cx="688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热电偶</a:t>
            </a:r>
            <a:endParaRPr lang="en-US" sz="11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3DFB6D5-0480-168D-C82B-244537F8E86A}"/>
              </a:ext>
            </a:extLst>
          </p:cNvPr>
          <p:cNvSpPr txBox="1"/>
          <p:nvPr/>
        </p:nvSpPr>
        <p:spPr>
          <a:xfrm>
            <a:off x="1865125" y="4320951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传感器</a:t>
            </a:r>
            <a:endParaRPr lang="en-US" sz="1100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4F33801-AA6F-41AE-88DC-480F6DFA0292}"/>
              </a:ext>
            </a:extLst>
          </p:cNvPr>
          <p:cNvCxnSpPr>
            <a:cxnSpLocks/>
          </p:cNvCxnSpPr>
          <p:nvPr/>
        </p:nvCxnSpPr>
        <p:spPr bwMode="auto">
          <a:xfrm>
            <a:off x="2769185" y="3116120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A5ABA85-97DB-5743-EF88-F1BBBEC71790}"/>
              </a:ext>
            </a:extLst>
          </p:cNvPr>
          <p:cNvCxnSpPr>
            <a:cxnSpLocks/>
          </p:cNvCxnSpPr>
          <p:nvPr/>
        </p:nvCxnSpPr>
        <p:spPr bwMode="auto">
          <a:xfrm>
            <a:off x="1755437" y="3859640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46720D4-CE47-6B98-34EC-8F03A095A2EC}"/>
              </a:ext>
            </a:extLst>
          </p:cNvPr>
          <p:cNvCxnSpPr>
            <a:cxnSpLocks/>
          </p:cNvCxnSpPr>
          <p:nvPr/>
        </p:nvCxnSpPr>
        <p:spPr bwMode="auto">
          <a:xfrm>
            <a:off x="1581509" y="4451756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3DAD2E7F-85D8-9FE8-9E08-1788BD9D95DC}"/>
              </a:ext>
            </a:extLst>
          </p:cNvPr>
          <p:cNvSpPr txBox="1"/>
          <p:nvPr/>
        </p:nvSpPr>
        <p:spPr>
          <a:xfrm>
            <a:off x="3801937" y="3780575"/>
            <a:ext cx="83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试验方法</a:t>
            </a:r>
            <a:endParaRPr lang="en-US" sz="11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ECA2AD5-8067-6701-AEB6-190EB3BF3D54}"/>
              </a:ext>
            </a:extLst>
          </p:cNvPr>
          <p:cNvSpPr txBox="1"/>
          <p:nvPr/>
        </p:nvSpPr>
        <p:spPr>
          <a:xfrm>
            <a:off x="4691835" y="4337084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操作手册</a:t>
            </a:r>
            <a:endParaRPr lang="en-US" sz="1100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0E03646-B94C-5F8F-B2A1-A4DC1871238E}"/>
              </a:ext>
            </a:extLst>
          </p:cNvPr>
          <p:cNvCxnSpPr>
            <a:cxnSpLocks/>
          </p:cNvCxnSpPr>
          <p:nvPr/>
        </p:nvCxnSpPr>
        <p:spPr bwMode="auto">
          <a:xfrm>
            <a:off x="4531821" y="3903495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E66CB11-35FD-54F1-630A-14CAF5F0AC67}"/>
              </a:ext>
            </a:extLst>
          </p:cNvPr>
          <p:cNvCxnSpPr>
            <a:cxnSpLocks/>
          </p:cNvCxnSpPr>
          <p:nvPr/>
        </p:nvCxnSpPr>
        <p:spPr bwMode="auto">
          <a:xfrm>
            <a:off x="4410437" y="4467889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960F69F-7019-A3EF-0A9F-BE3B57C8DD7A}"/>
              </a:ext>
            </a:extLst>
          </p:cNvPr>
          <p:cNvSpPr txBox="1"/>
          <p:nvPr/>
        </p:nvSpPr>
        <p:spPr>
          <a:xfrm>
            <a:off x="6480437" y="3824292"/>
            <a:ext cx="777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测试工位</a:t>
            </a:r>
            <a:endParaRPr lang="en-US" sz="11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A6715E5-5A88-6349-DFF0-22ACFF5E6DEE}"/>
              </a:ext>
            </a:extLst>
          </p:cNvPr>
          <p:cNvSpPr txBox="1"/>
          <p:nvPr/>
        </p:nvSpPr>
        <p:spPr>
          <a:xfrm>
            <a:off x="7327751" y="4325878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环境温湿度</a:t>
            </a:r>
            <a:endParaRPr lang="en-US" sz="1100" dirty="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5235E59-9CC5-5526-ECED-535B77F37F0F}"/>
              </a:ext>
            </a:extLst>
          </p:cNvPr>
          <p:cNvCxnSpPr>
            <a:cxnSpLocks/>
          </p:cNvCxnSpPr>
          <p:nvPr/>
        </p:nvCxnSpPr>
        <p:spPr bwMode="auto">
          <a:xfrm>
            <a:off x="7146431" y="3947212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C4156DA-4BC4-817C-EE50-27A4A55DA70B}"/>
              </a:ext>
            </a:extLst>
          </p:cNvPr>
          <p:cNvCxnSpPr>
            <a:cxnSpLocks/>
          </p:cNvCxnSpPr>
          <p:nvPr/>
        </p:nvCxnSpPr>
        <p:spPr bwMode="auto">
          <a:xfrm>
            <a:off x="7022486" y="4452006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159B05CF-211D-A800-953C-13D01E90DC74}"/>
              </a:ext>
            </a:extLst>
          </p:cNvPr>
          <p:cNvCxnSpPr>
            <a:cxnSpLocks/>
            <a:endCxn id="75" idx="1"/>
          </p:cNvCxnSpPr>
          <p:nvPr/>
        </p:nvCxnSpPr>
        <p:spPr bwMode="auto">
          <a:xfrm>
            <a:off x="2444887" y="2493168"/>
            <a:ext cx="268207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594BDD7E-4B0B-05F0-DA02-1D9A83A7F7B6}"/>
              </a:ext>
            </a:extLst>
          </p:cNvPr>
          <p:cNvSpPr txBox="1"/>
          <p:nvPr/>
        </p:nvSpPr>
        <p:spPr>
          <a:xfrm>
            <a:off x="2713094" y="2354668"/>
            <a:ext cx="116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设计人员</a:t>
            </a:r>
            <a:endParaRPr 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60671A-9CAA-35CF-C60E-CB12FFFF99C0}"/>
              </a:ext>
            </a:extLst>
          </p:cNvPr>
          <p:cNvSpPr txBox="1"/>
          <p:nvPr/>
        </p:nvSpPr>
        <p:spPr>
          <a:xfrm>
            <a:off x="5690867" y="2332217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传感器位置</a:t>
            </a:r>
            <a:endParaRPr lang="en-US" sz="11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DABE35C-F57B-FB6C-D1D5-5000A2A727C4}"/>
              </a:ext>
            </a:extLst>
          </p:cNvPr>
          <p:cNvCxnSpPr>
            <a:cxnSpLocks/>
          </p:cNvCxnSpPr>
          <p:nvPr/>
        </p:nvCxnSpPr>
        <p:spPr bwMode="auto">
          <a:xfrm>
            <a:off x="5375867" y="2477438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DF1CEBC-4BDB-D769-8BEC-710C1D86C00A}"/>
              </a:ext>
            </a:extLst>
          </p:cNvPr>
          <p:cNvSpPr txBox="1"/>
          <p:nvPr/>
        </p:nvSpPr>
        <p:spPr>
          <a:xfrm>
            <a:off x="5985437" y="2678098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风道设计</a:t>
            </a:r>
            <a:endParaRPr lang="en-US" sz="1100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B6ED058-8DD4-FB46-C419-484E07909FAB}"/>
              </a:ext>
            </a:extLst>
          </p:cNvPr>
          <p:cNvCxnSpPr>
            <a:cxnSpLocks/>
          </p:cNvCxnSpPr>
          <p:nvPr/>
        </p:nvCxnSpPr>
        <p:spPr bwMode="auto">
          <a:xfrm>
            <a:off x="5732853" y="2822396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451EABF-6752-AF30-39A6-924001E5E537}"/>
              </a:ext>
            </a:extLst>
          </p:cNvPr>
          <p:cNvSpPr txBox="1"/>
          <p:nvPr/>
        </p:nvSpPr>
        <p:spPr>
          <a:xfrm>
            <a:off x="6373990" y="3060575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VTC</a:t>
            </a:r>
            <a:r>
              <a:rPr lang="zh-CN" altLang="en-US" sz="1100" dirty="0"/>
              <a:t>导冷</a:t>
            </a:r>
            <a:endParaRPr lang="en-US" sz="1100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E2F5000-790B-EB27-1075-7449C8D0A43B}"/>
              </a:ext>
            </a:extLst>
          </p:cNvPr>
          <p:cNvCxnSpPr>
            <a:cxnSpLocks/>
          </p:cNvCxnSpPr>
          <p:nvPr/>
        </p:nvCxnSpPr>
        <p:spPr bwMode="auto">
          <a:xfrm>
            <a:off x="6104764" y="3204158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61135AE-7ADB-53AC-670F-412CF7ED28B4}"/>
              </a:ext>
            </a:extLst>
          </p:cNvPr>
          <p:cNvCxnSpPr>
            <a:cxnSpLocks/>
          </p:cNvCxnSpPr>
          <p:nvPr/>
        </p:nvCxnSpPr>
        <p:spPr bwMode="auto">
          <a:xfrm>
            <a:off x="5294670" y="2701175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FF57725-870A-4F0D-107F-806CCD250B98}"/>
              </a:ext>
            </a:extLst>
          </p:cNvPr>
          <p:cNvSpPr txBox="1"/>
          <p:nvPr/>
        </p:nvSpPr>
        <p:spPr>
          <a:xfrm>
            <a:off x="4925867" y="2940329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风门漏冷</a:t>
            </a:r>
            <a:endParaRPr 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9CABE7-C4CC-3C74-60EC-2F9EBDD27834}"/>
              </a:ext>
            </a:extLst>
          </p:cNvPr>
          <p:cNvSpPr txBox="1"/>
          <p:nvPr/>
        </p:nvSpPr>
        <p:spPr>
          <a:xfrm>
            <a:off x="5324091" y="3262958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FC</a:t>
            </a:r>
            <a:r>
              <a:rPr lang="zh-CN" altLang="en-US" sz="1100" dirty="0"/>
              <a:t>导冷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98DDB4-3C58-5BB0-222E-3D596D622CB3}"/>
              </a:ext>
            </a:extLst>
          </p:cNvPr>
          <p:cNvSpPr txBox="1"/>
          <p:nvPr/>
        </p:nvSpPr>
        <p:spPr>
          <a:xfrm>
            <a:off x="4545437" y="2559486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控制参数</a:t>
            </a:r>
            <a:endParaRPr lang="en-US" sz="1100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241D492-7EFA-DD72-4037-7CD68A30B2AC}"/>
              </a:ext>
            </a:extLst>
          </p:cNvPr>
          <p:cNvCxnSpPr>
            <a:cxnSpLocks/>
          </p:cNvCxnSpPr>
          <p:nvPr/>
        </p:nvCxnSpPr>
        <p:spPr bwMode="auto">
          <a:xfrm>
            <a:off x="5660361" y="3061554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59C4F36-370C-A58A-555C-C8E78ABF89C8}"/>
              </a:ext>
            </a:extLst>
          </p:cNvPr>
          <p:cNvCxnSpPr>
            <a:cxnSpLocks/>
          </p:cNvCxnSpPr>
          <p:nvPr/>
        </p:nvCxnSpPr>
        <p:spPr bwMode="auto">
          <a:xfrm>
            <a:off x="5962956" y="3417301"/>
            <a:ext cx="283616" cy="1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EC6D-6BB6-1CEC-53C4-2DEB8C2C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8A6D0-1E0C-3805-2211-DDA65614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0" y="1014358"/>
            <a:ext cx="2113487" cy="3603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主要影响因素</a:t>
            </a:r>
            <a:endParaRPr lang="de-DE"/>
          </a:p>
        </p:txBody>
      </p:sp>
      <p:sp>
        <p:nvSpPr>
          <p:cNvPr id="5" name="Abgerundetes Rechteck 5">
            <a:extLst>
              <a:ext uri="{FF2B5EF4-FFF2-40B4-BE49-F238E27FC236}">
                <a16:creationId xmlns:a16="http://schemas.microsoft.com/office/drawing/2014/main" id="{D1A66D8C-AC32-60B9-F244-3BC018345CF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1907" y="1408771"/>
            <a:ext cx="9208279" cy="908136"/>
          </a:xfrm>
          <a:prstGeom prst="roundRect">
            <a:avLst>
              <a:gd name="adj" fmla="val 11138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>
                <a:solidFill>
                  <a:srgbClr val="FF0000"/>
                </a:solidFill>
                <a:latin typeface="+mn-lt"/>
              </a:rPr>
              <a:t>软件问题：</a:t>
            </a:r>
            <a:endParaRPr lang="en-US" altLang="zh-CN" sz="1400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+mn-lt"/>
              </a:rPr>
              <a:t>(1) </a:t>
            </a:r>
            <a:r>
              <a:rPr lang="zh-CN" altLang="en-US" sz="1400" dirty="0">
                <a:solidFill>
                  <a:schemeClr val="tx1"/>
                </a:solidFill>
                <a:latin typeface="+mn-lt"/>
              </a:rPr>
              <a:t>在冷藏室没有开机请求的情况下，冷藏室没有足够的通风，也是导致冷气下沉堆积的一个重要原因。</a:t>
            </a:r>
            <a:endParaRPr lang="en-US" altLang="zh-CN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1454A6B-2198-A109-358E-54025A7C3CBF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sp>
        <p:nvSpPr>
          <p:cNvPr id="32" name="Abgerundetes Rechteck 5">
            <a:extLst>
              <a:ext uri="{FF2B5EF4-FFF2-40B4-BE49-F238E27FC236}">
                <a16:creationId xmlns:a16="http://schemas.microsoft.com/office/drawing/2014/main" id="{83D38A65-178F-05B1-E62D-C696EAA5D93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41908" y="2604509"/>
            <a:ext cx="9208280" cy="2327498"/>
          </a:xfrm>
          <a:prstGeom prst="roundRect">
            <a:avLst>
              <a:gd name="adj" fmla="val 6305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+mn-lt"/>
              </a:rPr>
              <a:t>硬件问题：</a:t>
            </a:r>
            <a:endParaRPr lang="en-US" altLang="zh-CN" sz="1400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+mn-lt"/>
              </a:rPr>
              <a:t>(1) </a:t>
            </a:r>
            <a:r>
              <a:rPr lang="zh-CN" altLang="en-US" sz="1400" dirty="0">
                <a:solidFill>
                  <a:schemeClr val="tx1"/>
                </a:solidFill>
              </a:rPr>
              <a:t>风道设计：</a:t>
            </a:r>
            <a:r>
              <a:rPr lang="en-US" altLang="zh-CN" sz="1400" dirty="0">
                <a:solidFill>
                  <a:schemeClr val="tx1"/>
                </a:solidFill>
              </a:rPr>
              <a:t>a. </a:t>
            </a:r>
            <a:r>
              <a:rPr lang="zh-CN" altLang="en-US" sz="1400" dirty="0">
                <a:solidFill>
                  <a:schemeClr val="tx1"/>
                </a:solidFill>
              </a:rPr>
              <a:t>冷藏室底部回风短路，结冰位置低于回风口位置，使得底部回风不畅，不能有效带走底部堆积冷气。</a:t>
            </a:r>
            <a:r>
              <a:rPr lang="en-US" altLang="zh-CN" sz="1400" dirty="0">
                <a:solidFill>
                  <a:schemeClr val="tx1"/>
                </a:solidFill>
              </a:rPr>
              <a:t>b. </a:t>
            </a:r>
            <a:r>
              <a:rPr lang="zh-CN" altLang="en-US" sz="1400" dirty="0">
                <a:solidFill>
                  <a:schemeClr val="tx1"/>
                </a:solidFill>
              </a:rPr>
              <a:t>结冰位置空气流动差。</a:t>
            </a:r>
            <a:endParaRPr lang="en-US" altLang="zh-CN" sz="1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+mn-lt"/>
              </a:rPr>
              <a:t>(2) </a:t>
            </a:r>
            <a:r>
              <a:rPr lang="zh-CN" altLang="en-US" sz="1400" dirty="0">
                <a:solidFill>
                  <a:schemeClr val="tx1"/>
                </a:solidFill>
              </a:rPr>
              <a:t>风门漏冷：风门位置距离结冰位置很近，冷气容易传导至结冰位置。</a:t>
            </a:r>
            <a:endParaRPr lang="en-US" altLang="zh-CN" sz="1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+mn-lt"/>
              </a:rPr>
              <a:t>(3)</a:t>
            </a:r>
            <a:r>
              <a:rPr lang="zh-CN" alt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FC</a:t>
            </a:r>
            <a:r>
              <a:rPr lang="zh-CN" altLang="en-US" sz="1400" dirty="0">
                <a:solidFill>
                  <a:schemeClr val="tx1"/>
                </a:solidFill>
              </a:rPr>
              <a:t>导冷：冷冻室冷气透过隔热层传导到结冰位置，使其温度降低。</a:t>
            </a:r>
            <a:endParaRPr lang="en-US" altLang="zh-CN" sz="1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+mn-lt"/>
              </a:rPr>
              <a:t>(4)</a:t>
            </a:r>
            <a:r>
              <a:rPr lang="zh-CN" alt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VTC</a:t>
            </a:r>
            <a:r>
              <a:rPr lang="zh-CN" altLang="en-US" sz="1400" dirty="0">
                <a:solidFill>
                  <a:schemeClr val="tx1"/>
                </a:solidFill>
              </a:rPr>
              <a:t>：低于冷藏室的低温冷源透过抽屉壁面传导到结冰位置，使其温度降低。</a:t>
            </a:r>
            <a:endParaRPr lang="en-US" sz="1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(5)</a:t>
            </a:r>
            <a:r>
              <a:rPr lang="zh-CN" altLang="en-US" sz="1400" dirty="0">
                <a:solidFill>
                  <a:schemeClr val="tx1"/>
                </a:solidFill>
              </a:rPr>
              <a:t> 传感器位置：传感器的位置不够敏感，使得冷藏室开停机不够频繁。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Abgerundetes Rechteck 5">
            <a:extLst>
              <a:ext uri="{FF2B5EF4-FFF2-40B4-BE49-F238E27FC236}">
                <a16:creationId xmlns:a16="http://schemas.microsoft.com/office/drawing/2014/main" id="{84BA6D49-3245-EF62-F554-5A5D9EBB381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907" y="5315989"/>
            <a:ext cx="9208279" cy="855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>
                <a:solidFill>
                  <a:srgbClr val="FF0000"/>
                </a:solidFill>
                <a:latin typeface="+mn-lt"/>
              </a:rPr>
              <a:t>测试问题：</a:t>
            </a:r>
            <a:endParaRPr lang="en-US" altLang="zh-CN" sz="1400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+mn-lt"/>
              </a:rPr>
              <a:t>测试中，大量的高温湿气通过开关门的动作滞留在冷藏室，湿气遇冷凝结流向底部。</a:t>
            </a:r>
            <a:endParaRPr lang="en-US" altLang="zh-CN" sz="1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0D0321-8C94-249D-64E3-D6543D4E72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"/>
          <a:stretch/>
        </p:blipFill>
        <p:spPr bwMode="auto">
          <a:xfrm>
            <a:off x="9690896" y="12080"/>
            <a:ext cx="1613598" cy="2152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ACE01B4-D1BA-E8FF-0EB3-6FA6E03020B4}"/>
              </a:ext>
            </a:extLst>
          </p:cNvPr>
          <p:cNvSpPr txBox="1"/>
          <p:nvPr/>
        </p:nvSpPr>
        <p:spPr>
          <a:xfrm>
            <a:off x="2395439" y="1061052"/>
            <a:ext cx="9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控制参数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0077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FC3B-8A0C-3401-92C6-D9A25D56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BFB4D-C749-D035-CD8F-9DDF5BE4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03" y="996974"/>
            <a:ext cx="1798488" cy="360363"/>
          </a:xfr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问题机制</a:t>
            </a:r>
            <a:endParaRPr lang="de-DE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284CE746-5B65-43BF-CF5C-8D6B21534A6B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243CBA3E-4A91-7325-EDEA-8FFB7BE871C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9155" y="1453724"/>
            <a:ext cx="9208278" cy="635052"/>
          </a:xfrm>
          <a:prstGeom prst="roundRect">
            <a:avLst>
              <a:gd name="adj" fmla="val 11004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该结冰位置温度低于冰点，凝露水在此聚集并冻结，同时该位置通风差，不能将凝露水带走。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0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B563-6D19-DA66-2507-408C3B8B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F59F0-C88B-B21B-15C9-2F1DBDB3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1079500"/>
            <a:ext cx="1809959" cy="360363"/>
          </a:xfr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问题复现</a:t>
            </a:r>
            <a:endParaRPr lang="de-DE" dirty="0"/>
          </a:p>
        </p:txBody>
      </p:sp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572EE502-9706-A9CD-661A-13D9AB28BA5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15437" y="1477701"/>
            <a:ext cx="4454997" cy="360364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2FB8968-F963-6DCD-78F8-80D848E732CD}"/>
              </a:ext>
            </a:extLst>
          </p:cNvPr>
          <p:cNvSpPr txBox="1"/>
          <p:nvPr/>
        </p:nvSpPr>
        <p:spPr>
          <a:xfrm>
            <a:off x="315436" y="1516517"/>
            <a:ext cx="577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通过多次测试，均出现同一个位置结冰。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itel 1">
            <a:extLst>
              <a:ext uri="{FF2B5EF4-FFF2-40B4-BE49-F238E27FC236}">
                <a16:creationId xmlns:a16="http://schemas.microsoft.com/office/drawing/2014/main" id="{3D69A7CC-9884-A24C-4EB9-A78077000A2E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4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C4E4-CFCD-75AD-53E4-F44A58C5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D9487D85-02AC-D0AD-7692-C63783E00A1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15437" y="1477700"/>
            <a:ext cx="8816975" cy="99787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软件原因：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Abgerundetes Rechteck 5">
            <a:extLst>
              <a:ext uri="{FF2B5EF4-FFF2-40B4-BE49-F238E27FC236}">
                <a16:creationId xmlns:a16="http://schemas.microsoft.com/office/drawing/2014/main" id="{0A88E34F-BD7E-7368-5AA4-21DA06435AD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25248" y="2962700"/>
            <a:ext cx="8807163" cy="178859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硬件原因：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）冷藏室底部回风短路，结冰位置低于回风口位置，使得底部回风不畅，不能有效带走底部堆积冷气。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）结冰位置空气流动差。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Abgerundetes Rechteck 5">
            <a:extLst>
              <a:ext uri="{FF2B5EF4-FFF2-40B4-BE49-F238E27FC236}">
                <a16:creationId xmlns:a16="http://schemas.microsoft.com/office/drawing/2014/main" id="{F3D71020-5871-940A-A95E-9ACDAC4F8C0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15437" y="4965942"/>
            <a:ext cx="8807162" cy="104441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测试原因：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大量的高温湿气通过开关门的动作滞留在冷藏室，湿气遇冷凝结流向底部。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ECCE86B2-355B-DDE8-A373-1EA2835DDFB0}"/>
              </a:ext>
            </a:extLst>
          </p:cNvPr>
          <p:cNvSpPr txBox="1">
            <a:spLocks/>
          </p:cNvSpPr>
          <p:nvPr/>
        </p:nvSpPr>
        <p:spPr bwMode="auto">
          <a:xfrm>
            <a:off x="358775" y="1079500"/>
            <a:ext cx="1809959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kern="0"/>
              <a:t>根本原因</a:t>
            </a:r>
            <a:endParaRPr lang="de-DE" kern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CCDC9B6-0EC0-C7A4-CC14-503F6DB86C17}"/>
              </a:ext>
            </a:extLst>
          </p:cNvPr>
          <p:cNvSpPr txBox="1">
            <a:spLocks/>
          </p:cNvSpPr>
          <p:nvPr/>
        </p:nvSpPr>
        <p:spPr bwMode="auto">
          <a:xfrm>
            <a:off x="180437" y="450575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2. </a:t>
            </a:r>
            <a:r>
              <a:rPr lang="zh-CN" altLang="en-US"/>
              <a:t>问题分析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1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Part.03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定义方案</a:t>
            </a:r>
          </a:p>
        </p:txBody>
      </p:sp>
    </p:spTree>
    <p:extLst>
      <p:ext uri="{BB962C8B-B14F-4D97-AF65-F5344CB8AC3E}">
        <p14:creationId xmlns:p14="http://schemas.microsoft.com/office/powerpoint/2010/main" val="322460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5"/>
          <p:cNvSpPr/>
          <p:nvPr/>
        </p:nvSpPr>
        <p:spPr bwMode="auto">
          <a:xfrm>
            <a:off x="6366580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81C15A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31" name="Freeform 5"/>
          <p:cNvSpPr/>
          <p:nvPr/>
        </p:nvSpPr>
        <p:spPr bwMode="auto">
          <a:xfrm>
            <a:off x="3768758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505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5" name="Freeform 5"/>
          <p:cNvSpPr/>
          <p:nvPr/>
        </p:nvSpPr>
        <p:spPr bwMode="auto">
          <a:xfrm>
            <a:off x="1048763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C00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613932" y="3793603"/>
            <a:ext cx="22099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 dirty="0">
                <a:sym typeface="+mn-lt"/>
              </a:rPr>
              <a:t>方案</a:t>
            </a:r>
            <a:r>
              <a:rPr lang="en-US" altLang="zh-CN" dirty="0">
                <a:sym typeface="+mn-lt"/>
              </a:rPr>
              <a:t>1</a:t>
            </a:r>
            <a:r>
              <a:rPr lang="zh-CN" altLang="en-US" dirty="0">
                <a:sym typeface="+mn-lt"/>
              </a:rPr>
              <a:t>：硬件更改</a:t>
            </a:r>
            <a:endParaRPr lang="en-US" altLang="zh-CN" dirty="0">
              <a:sym typeface="+mn-lt"/>
            </a:endParaRP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557608" y="4432184"/>
            <a:ext cx="2322604" cy="2172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342900" indent="-342900">
              <a:buAutoNum type="arabicPeriod"/>
            </a:pPr>
            <a:r>
              <a:rPr lang="zh-CN" altLang="en-US" dirty="0">
                <a:sym typeface="+mn-lt"/>
              </a:rPr>
              <a:t>冷藏室回风口位置改至最底部。</a:t>
            </a:r>
            <a:endParaRPr lang="en-US" altLang="zh-CN" dirty="0">
              <a:sym typeface="+mn-lt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ym typeface="+mn-lt"/>
              </a:rPr>
              <a:t>抽屉间中梁后部与风道盖板之间的间隙加大。</a:t>
            </a:r>
            <a:endParaRPr lang="en-US" altLang="zh-CN" dirty="0">
              <a:sym typeface="+mn-lt"/>
            </a:endParaRPr>
          </a:p>
          <a:p>
            <a:endParaRPr lang="zh-CN" altLang="en-US" dirty="0">
              <a:sym typeface="+mn-lt"/>
            </a:endParaRP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3072119" y="3804472"/>
            <a:ext cx="26227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 dirty="0">
                <a:sym typeface="+mn-lt"/>
              </a:rPr>
              <a:t>方案</a:t>
            </a:r>
            <a:r>
              <a:rPr lang="en-US" altLang="zh-CN" dirty="0">
                <a:sym typeface="+mn-lt"/>
              </a:rPr>
              <a:t>2</a:t>
            </a:r>
            <a:r>
              <a:rPr lang="zh-CN" altLang="en-US" dirty="0">
                <a:sym typeface="+mn-lt"/>
              </a:rPr>
              <a:t>：测试条件</a:t>
            </a:r>
            <a:endParaRPr lang="en-US" altLang="zh-CN" dirty="0">
              <a:sym typeface="+mn-lt"/>
            </a:endParaRP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3459056" y="4385202"/>
            <a:ext cx="2622761" cy="106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dirty="0">
                <a:sym typeface="+mn-lt"/>
              </a:rPr>
              <a:t>1. </a:t>
            </a:r>
            <a:r>
              <a:rPr lang="zh-CN" altLang="en-US" dirty="0">
                <a:sym typeface="+mn-lt"/>
              </a:rPr>
              <a:t>考虑该测试是否有减小开门频次的可能？</a:t>
            </a:r>
            <a:endParaRPr lang="en-US" altLang="zh-CN" dirty="0">
              <a:sym typeface="+mn-lt"/>
            </a:endParaRPr>
          </a:p>
          <a:p>
            <a:r>
              <a:rPr lang="en-US" altLang="zh-CN" dirty="0">
                <a:sym typeface="+mn-lt"/>
              </a:rPr>
              <a:t>2. </a:t>
            </a:r>
            <a:r>
              <a:rPr lang="zh-CN" altLang="en-US" dirty="0">
                <a:sym typeface="+mn-lt"/>
              </a:rPr>
              <a:t>测试设计是否合理？</a:t>
            </a: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5943112" y="3793603"/>
            <a:ext cx="24756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/>
            <a:r>
              <a:rPr lang="zh-CN" altLang="en-US" dirty="0">
                <a:sym typeface="+mn-lt"/>
              </a:rPr>
              <a:t>方案</a:t>
            </a:r>
            <a:r>
              <a:rPr lang="en-US" altLang="zh-CN" dirty="0">
                <a:sym typeface="+mn-lt"/>
              </a:rPr>
              <a:t>3</a:t>
            </a:r>
            <a:r>
              <a:rPr lang="zh-CN" altLang="en-US" dirty="0">
                <a:sym typeface="+mn-lt"/>
              </a:rPr>
              <a:t>：</a:t>
            </a:r>
            <a:endParaRPr lang="en-US" altLang="zh-CN" dirty="0">
              <a:sym typeface="+mn-lt"/>
            </a:endParaRPr>
          </a:p>
        </p:txBody>
      </p:sp>
      <p:sp>
        <p:nvSpPr>
          <p:cNvPr id="27" name="iconfont-1187-868319"/>
          <p:cNvSpPr>
            <a:spLocks noChangeAspect="1"/>
          </p:cNvSpPr>
          <p:nvPr/>
        </p:nvSpPr>
        <p:spPr bwMode="auto">
          <a:xfrm>
            <a:off x="1336751" y="2595501"/>
            <a:ext cx="610934" cy="610425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28" name="iconfont-11920-5700803"/>
          <p:cNvSpPr>
            <a:spLocks noChangeAspect="1"/>
          </p:cNvSpPr>
          <p:nvPr/>
        </p:nvSpPr>
        <p:spPr bwMode="auto">
          <a:xfrm>
            <a:off x="4096715" y="2623773"/>
            <a:ext cx="525224" cy="525224"/>
          </a:xfrm>
          <a:custGeom>
            <a:avLst/>
            <a:gdLst>
              <a:gd name="T0" fmla="*/ 0 w 11200"/>
              <a:gd name="T1" fmla="*/ 0 h 11200"/>
              <a:gd name="T2" fmla="*/ 4800 w 11200"/>
              <a:gd name="T3" fmla="*/ 0 h 11200"/>
              <a:gd name="T4" fmla="*/ 4800 w 11200"/>
              <a:gd name="T5" fmla="*/ 4800 h 11200"/>
              <a:gd name="T6" fmla="*/ 0 w 11200"/>
              <a:gd name="T7" fmla="*/ 4800 h 11200"/>
              <a:gd name="T8" fmla="*/ 0 w 11200"/>
              <a:gd name="T9" fmla="*/ 0 h 11200"/>
              <a:gd name="T10" fmla="*/ 0 w 11200"/>
              <a:gd name="T11" fmla="*/ 6400 h 11200"/>
              <a:gd name="T12" fmla="*/ 4800 w 11200"/>
              <a:gd name="T13" fmla="*/ 6400 h 11200"/>
              <a:gd name="T14" fmla="*/ 4800 w 11200"/>
              <a:gd name="T15" fmla="*/ 11200 h 11200"/>
              <a:gd name="T16" fmla="*/ 0 w 11200"/>
              <a:gd name="T17" fmla="*/ 11200 h 11200"/>
              <a:gd name="T18" fmla="*/ 0 w 11200"/>
              <a:gd name="T19" fmla="*/ 6400 h 11200"/>
              <a:gd name="T20" fmla="*/ 6400 w 11200"/>
              <a:gd name="T21" fmla="*/ 6400 h 11200"/>
              <a:gd name="T22" fmla="*/ 11200 w 11200"/>
              <a:gd name="T23" fmla="*/ 6400 h 11200"/>
              <a:gd name="T24" fmla="*/ 11200 w 11200"/>
              <a:gd name="T25" fmla="*/ 11200 h 11200"/>
              <a:gd name="T26" fmla="*/ 6400 w 11200"/>
              <a:gd name="T27" fmla="*/ 11200 h 11200"/>
              <a:gd name="T28" fmla="*/ 6400 w 11200"/>
              <a:gd name="T29" fmla="*/ 6400 h 11200"/>
              <a:gd name="T30" fmla="*/ 8800 w 11200"/>
              <a:gd name="T31" fmla="*/ 4800 h 11200"/>
              <a:gd name="T32" fmla="*/ 11200 w 11200"/>
              <a:gd name="T33" fmla="*/ 2400 h 11200"/>
              <a:gd name="T34" fmla="*/ 8800 w 11200"/>
              <a:gd name="T35" fmla="*/ 0 h 11200"/>
              <a:gd name="T36" fmla="*/ 6400 w 11200"/>
              <a:gd name="T37" fmla="*/ 2400 h 11200"/>
              <a:gd name="T38" fmla="*/ 8800 w 11200"/>
              <a:gd name="T39" fmla="*/ 4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00" h="11200">
                <a:moveTo>
                  <a:pt x="0" y="0"/>
                </a:moveTo>
                <a:lnTo>
                  <a:pt x="4800" y="0"/>
                </a:lnTo>
                <a:lnTo>
                  <a:pt x="4800" y="4800"/>
                </a:lnTo>
                <a:lnTo>
                  <a:pt x="0" y="4800"/>
                </a:lnTo>
                <a:lnTo>
                  <a:pt x="0" y="0"/>
                </a:lnTo>
                <a:close/>
                <a:moveTo>
                  <a:pt x="0" y="6400"/>
                </a:moveTo>
                <a:lnTo>
                  <a:pt x="4800" y="6400"/>
                </a:lnTo>
                <a:lnTo>
                  <a:pt x="4800" y="11200"/>
                </a:lnTo>
                <a:lnTo>
                  <a:pt x="0" y="11200"/>
                </a:lnTo>
                <a:lnTo>
                  <a:pt x="0" y="6400"/>
                </a:lnTo>
                <a:close/>
                <a:moveTo>
                  <a:pt x="6400" y="6400"/>
                </a:moveTo>
                <a:lnTo>
                  <a:pt x="11200" y="6400"/>
                </a:lnTo>
                <a:lnTo>
                  <a:pt x="11200" y="11200"/>
                </a:lnTo>
                <a:lnTo>
                  <a:pt x="6400" y="11200"/>
                </a:lnTo>
                <a:lnTo>
                  <a:pt x="6400" y="6400"/>
                </a:lnTo>
                <a:close/>
                <a:moveTo>
                  <a:pt x="8800" y="4800"/>
                </a:moveTo>
                <a:cubicBezTo>
                  <a:pt x="10125" y="4800"/>
                  <a:pt x="11200" y="3725"/>
                  <a:pt x="11200" y="2400"/>
                </a:cubicBezTo>
                <a:cubicBezTo>
                  <a:pt x="11200" y="1075"/>
                  <a:pt x="10125" y="0"/>
                  <a:pt x="8800" y="0"/>
                </a:cubicBezTo>
                <a:cubicBezTo>
                  <a:pt x="7475" y="0"/>
                  <a:pt x="6400" y="1075"/>
                  <a:pt x="6400" y="2400"/>
                </a:cubicBezTo>
                <a:cubicBezTo>
                  <a:pt x="6400" y="3725"/>
                  <a:pt x="7475" y="4800"/>
                  <a:pt x="8800" y="4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30" name="iconfont-1187-868307"/>
          <p:cNvSpPr>
            <a:spLocks noChangeAspect="1"/>
          </p:cNvSpPr>
          <p:nvPr/>
        </p:nvSpPr>
        <p:spPr bwMode="auto">
          <a:xfrm>
            <a:off x="6685608" y="2605772"/>
            <a:ext cx="537881" cy="526550"/>
          </a:xfrm>
          <a:custGeom>
            <a:avLst/>
            <a:gdLst>
              <a:gd name="T0" fmla="*/ 2895 w 12754"/>
              <a:gd name="T1" fmla="*/ 3482 h 12486"/>
              <a:gd name="T2" fmla="*/ 6377 w 12754"/>
              <a:gd name="T3" fmla="*/ 0 h 12486"/>
              <a:gd name="T4" fmla="*/ 9859 w 12754"/>
              <a:gd name="T5" fmla="*/ 3482 h 12486"/>
              <a:gd name="T6" fmla="*/ 6377 w 12754"/>
              <a:gd name="T7" fmla="*/ 6963 h 12486"/>
              <a:gd name="T8" fmla="*/ 2895 w 12754"/>
              <a:gd name="T9" fmla="*/ 3482 h 12486"/>
              <a:gd name="T10" fmla="*/ 0 w 12754"/>
              <a:gd name="T11" fmla="*/ 12468 h 12486"/>
              <a:gd name="T12" fmla="*/ 3586 w 12754"/>
              <a:gd name="T13" fmla="*/ 7045 h 12486"/>
              <a:gd name="T14" fmla="*/ 6377 w 12754"/>
              <a:gd name="T15" fmla="*/ 8014 h 12486"/>
              <a:gd name="T16" fmla="*/ 9182 w 12754"/>
              <a:gd name="T17" fmla="*/ 7036 h 12486"/>
              <a:gd name="T18" fmla="*/ 12754 w 12754"/>
              <a:gd name="T19" fmla="*/ 12468 h 12486"/>
              <a:gd name="T20" fmla="*/ 0 w 12754"/>
              <a:gd name="T21" fmla="*/ 12468 h 12486"/>
              <a:gd name="T22" fmla="*/ 0 w 12754"/>
              <a:gd name="T23" fmla="*/ 12468 h 12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754" h="12486">
                <a:moveTo>
                  <a:pt x="2895" y="3482"/>
                </a:moveTo>
                <a:cubicBezTo>
                  <a:pt x="2895" y="1562"/>
                  <a:pt x="4457" y="0"/>
                  <a:pt x="6377" y="0"/>
                </a:cubicBezTo>
                <a:cubicBezTo>
                  <a:pt x="8297" y="0"/>
                  <a:pt x="9859" y="1562"/>
                  <a:pt x="9859" y="3482"/>
                </a:cubicBezTo>
                <a:cubicBezTo>
                  <a:pt x="9859" y="5402"/>
                  <a:pt x="8297" y="6963"/>
                  <a:pt x="6377" y="6963"/>
                </a:cubicBezTo>
                <a:cubicBezTo>
                  <a:pt x="4457" y="6963"/>
                  <a:pt x="2895" y="5402"/>
                  <a:pt x="2895" y="3482"/>
                </a:cubicBezTo>
                <a:close/>
                <a:moveTo>
                  <a:pt x="0" y="12468"/>
                </a:moveTo>
                <a:cubicBezTo>
                  <a:pt x="75" y="11626"/>
                  <a:pt x="479" y="8643"/>
                  <a:pt x="3586" y="7045"/>
                </a:cubicBezTo>
                <a:cubicBezTo>
                  <a:pt x="4356" y="7650"/>
                  <a:pt x="5324" y="8014"/>
                  <a:pt x="6377" y="8014"/>
                </a:cubicBezTo>
                <a:cubicBezTo>
                  <a:pt x="7436" y="8014"/>
                  <a:pt x="8409" y="7647"/>
                  <a:pt x="9182" y="7036"/>
                </a:cubicBezTo>
                <a:cubicBezTo>
                  <a:pt x="12302" y="8627"/>
                  <a:pt x="12678" y="11589"/>
                  <a:pt x="12754" y="12468"/>
                </a:cubicBezTo>
                <a:cubicBezTo>
                  <a:pt x="12736" y="12486"/>
                  <a:pt x="18" y="12470"/>
                  <a:pt x="0" y="12468"/>
                </a:cubicBezTo>
                <a:close/>
                <a:moveTo>
                  <a:pt x="0" y="1246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8D2DF9C-760A-A0C6-47C6-F3BF3B8A694A}"/>
              </a:ext>
            </a:extLst>
          </p:cNvPr>
          <p:cNvCxnSpPr/>
          <p:nvPr/>
        </p:nvCxnSpPr>
        <p:spPr bwMode="auto">
          <a:xfrm>
            <a:off x="0" y="1035575"/>
            <a:ext cx="9540875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E5CCF2DA-1EC6-D3C9-4759-7CC9A79979A5}"/>
              </a:ext>
            </a:extLst>
          </p:cNvPr>
          <p:cNvSpPr txBox="1">
            <a:spLocks/>
          </p:cNvSpPr>
          <p:nvPr/>
        </p:nvSpPr>
        <p:spPr bwMode="auto">
          <a:xfrm>
            <a:off x="120928" y="513722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3.</a:t>
            </a:r>
            <a:r>
              <a:rPr lang="zh-CN" altLang="en-US"/>
              <a:t>定义方案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Part.04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方案验证</a:t>
            </a:r>
          </a:p>
        </p:txBody>
      </p:sp>
    </p:spTree>
    <p:extLst>
      <p:ext uri="{BB962C8B-B14F-4D97-AF65-F5344CB8AC3E}">
        <p14:creationId xmlns:p14="http://schemas.microsoft.com/office/powerpoint/2010/main" val="27353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F0AB-6666-9191-3BFE-8C15A526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2375E1E7-22AE-1345-7AAD-4F7EC3704A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001416"/>
              </p:ext>
            </p:extLst>
          </p:nvPr>
        </p:nvGraphicFramePr>
        <p:xfrm>
          <a:off x="221765" y="1143505"/>
          <a:ext cx="9097344" cy="423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2517">
                  <a:extLst>
                    <a:ext uri="{9D8B030D-6E8A-4147-A177-3AD203B41FA5}">
                      <a16:colId xmlns:a16="http://schemas.microsoft.com/office/drawing/2014/main" val="2331199026"/>
                    </a:ext>
                  </a:extLst>
                </a:gridCol>
                <a:gridCol w="1909483">
                  <a:extLst>
                    <a:ext uri="{9D8B030D-6E8A-4147-A177-3AD203B41FA5}">
                      <a16:colId xmlns:a16="http://schemas.microsoft.com/office/drawing/2014/main" val="3426083869"/>
                    </a:ext>
                  </a:extLst>
                </a:gridCol>
                <a:gridCol w="1801906">
                  <a:extLst>
                    <a:ext uri="{9D8B030D-6E8A-4147-A177-3AD203B41FA5}">
                      <a16:colId xmlns:a16="http://schemas.microsoft.com/office/drawing/2014/main" val="1712650734"/>
                    </a:ext>
                  </a:extLst>
                </a:gridCol>
                <a:gridCol w="2061882">
                  <a:extLst>
                    <a:ext uri="{9D8B030D-6E8A-4147-A177-3AD203B41FA5}">
                      <a16:colId xmlns:a16="http://schemas.microsoft.com/office/drawing/2014/main" val="1004691703"/>
                    </a:ext>
                  </a:extLst>
                </a:gridCol>
                <a:gridCol w="1331556">
                  <a:extLst>
                    <a:ext uri="{9D8B030D-6E8A-4147-A177-3AD203B41FA5}">
                      <a16:colId xmlns:a16="http://schemas.microsoft.com/office/drawing/2014/main" val="205004653"/>
                    </a:ext>
                  </a:extLst>
                </a:gridCol>
              </a:tblGrid>
              <a:tr h="71798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方案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实际效果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责任人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最终结果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883979"/>
                  </a:ext>
                </a:extLst>
              </a:tr>
              <a:tr h="15001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ym typeface="+mn-lt"/>
                        </a:rPr>
                        <a:t>抽屉间中梁后部与风道盖板之间的间隙加大。</a:t>
                      </a:r>
                      <a:endParaRPr lang="en-US" altLang="zh-CN" dirty="0"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有利于底部通风，减少结冰量。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底部通风变好，结冰消失。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  <a:r>
                        <a:rPr lang="en-US" altLang="zh-CN" dirty="0"/>
                        <a:t>hou Dantan</a:t>
                      </a:r>
                    </a:p>
                    <a:p>
                      <a:r>
                        <a:rPr lang="en-US" dirty="0"/>
                        <a:t>Yang Haifeng</a:t>
                      </a:r>
                    </a:p>
                    <a:p>
                      <a:r>
                        <a:rPr lang="en-US" dirty="0"/>
                        <a:t>Wang Xian</a:t>
                      </a:r>
                      <a:r>
                        <a:rPr lang="en-US" altLang="zh-CN" dirty="0"/>
                        <a:t>zh</a:t>
                      </a:r>
                      <a:r>
                        <a:rPr lang="en-US" dirty="0"/>
                        <a:t>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结冰消失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229094"/>
                  </a:ext>
                </a:extLst>
              </a:tr>
              <a:tr h="10059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80438"/>
                  </a:ext>
                </a:extLst>
              </a:tr>
              <a:tr h="10059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963613"/>
                  </a:ext>
                </a:extLst>
              </a:tr>
            </a:tbl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8551708D-7F20-C43B-F97F-6B164910511C}"/>
              </a:ext>
            </a:extLst>
          </p:cNvPr>
          <p:cNvSpPr txBox="1">
            <a:spLocks/>
          </p:cNvSpPr>
          <p:nvPr/>
        </p:nvSpPr>
        <p:spPr bwMode="auto">
          <a:xfrm>
            <a:off x="135437" y="443292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4.</a:t>
            </a:r>
            <a:r>
              <a:rPr lang="zh-CN" altLang="en-US"/>
              <a:t>方案验证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62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BB109A-1E94-F02B-B450-90C2D5193D4D}"/>
              </a:ext>
            </a:extLst>
          </p:cNvPr>
          <p:cNvGrpSpPr/>
          <p:nvPr/>
        </p:nvGrpSpPr>
        <p:grpSpPr>
          <a:xfrm>
            <a:off x="4020468" y="2520575"/>
            <a:ext cx="1499938" cy="1334881"/>
            <a:chOff x="6719932" y="3321577"/>
            <a:chExt cx="1499938" cy="13348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E19E12-FFCC-C684-CD1A-BF5C12111B2D}"/>
                </a:ext>
              </a:extLst>
            </p:cNvPr>
            <p:cNvGrpSpPr/>
            <p:nvPr/>
          </p:nvGrpSpPr>
          <p:grpSpPr>
            <a:xfrm>
              <a:off x="6719932" y="3321577"/>
              <a:ext cx="1499938" cy="1334881"/>
              <a:chOff x="5127859" y="2518592"/>
              <a:chExt cx="1936282" cy="1723208"/>
            </a:xfrm>
          </p:grpSpPr>
          <p:sp>
            <p:nvSpPr>
              <p:cNvPr id="9" name="任意多边形 5">
                <a:extLst>
                  <a:ext uri="{FF2B5EF4-FFF2-40B4-BE49-F238E27FC236}">
                    <a16:creationId xmlns:a16="http://schemas.microsoft.com/office/drawing/2014/main" id="{8A77E6C9-DF19-1F0E-BDE5-1E656BBAC445}"/>
                  </a:ext>
                </a:extLst>
              </p:cNvPr>
              <p:cNvSpPr/>
              <p:nvPr/>
            </p:nvSpPr>
            <p:spPr>
              <a:xfrm>
                <a:off x="5127859" y="2518592"/>
                <a:ext cx="1936282" cy="1723208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0" name="任意多边形 6">
                <a:extLst>
                  <a:ext uri="{FF2B5EF4-FFF2-40B4-BE49-F238E27FC236}">
                    <a16:creationId xmlns:a16="http://schemas.microsoft.com/office/drawing/2014/main" id="{6CA89019-A435-B98A-9F5C-68339C8DD033}"/>
                  </a:ext>
                </a:extLst>
              </p:cNvPr>
              <p:cNvSpPr/>
              <p:nvPr/>
            </p:nvSpPr>
            <p:spPr>
              <a:xfrm>
                <a:off x="5257193" y="2633694"/>
                <a:ext cx="1677614" cy="1493004"/>
              </a:xfrm>
              <a:custGeom>
                <a:avLst/>
                <a:gdLst>
                  <a:gd name="connsiteX0" fmla="*/ 576168 w 1961391"/>
                  <a:gd name="connsiteY0" fmla="*/ 0 h 1745551"/>
                  <a:gd name="connsiteX1" fmla="*/ 863600 w 1961391"/>
                  <a:gd name="connsiteY1" fmla="*/ 0 h 1745551"/>
                  <a:gd name="connsiteX2" fmla="*/ 1097791 w 1961391"/>
                  <a:gd name="connsiteY2" fmla="*/ 0 h 1745551"/>
                  <a:gd name="connsiteX3" fmla="*/ 1385223 w 1961391"/>
                  <a:gd name="connsiteY3" fmla="*/ 0 h 1745551"/>
                  <a:gd name="connsiteX4" fmla="*/ 1539918 w 1961391"/>
                  <a:gd name="connsiteY4" fmla="*/ 88854 h 1745551"/>
                  <a:gd name="connsiteX5" fmla="*/ 1940980 w 1961391"/>
                  <a:gd name="connsiteY5" fmla="*/ 783921 h 1745551"/>
                  <a:gd name="connsiteX6" fmla="*/ 1961391 w 1961391"/>
                  <a:gd name="connsiteY6" fmla="*/ 872775 h 1745551"/>
                  <a:gd name="connsiteX7" fmla="*/ 1940980 w 1961391"/>
                  <a:gd name="connsiteY7" fmla="*/ 961629 h 1745551"/>
                  <a:gd name="connsiteX8" fmla="*/ 1539918 w 1961391"/>
                  <a:gd name="connsiteY8" fmla="*/ 1656697 h 1745551"/>
                  <a:gd name="connsiteX9" fmla="*/ 1385223 w 1961391"/>
                  <a:gd name="connsiteY9" fmla="*/ 1745551 h 1745551"/>
                  <a:gd name="connsiteX10" fmla="*/ 1120460 w 1961391"/>
                  <a:gd name="connsiteY10" fmla="*/ 1745551 h 1745551"/>
                  <a:gd name="connsiteX11" fmla="*/ 1097791 w 1961391"/>
                  <a:gd name="connsiteY11" fmla="*/ 1745551 h 1745551"/>
                  <a:gd name="connsiteX12" fmla="*/ 1039896 w 1961391"/>
                  <a:gd name="connsiteY12" fmla="*/ 1745551 h 1745551"/>
                  <a:gd name="connsiteX13" fmla="*/ 1013340 w 1961391"/>
                  <a:gd name="connsiteY13" fmla="*/ 1745551 h 1745551"/>
                  <a:gd name="connsiteX14" fmla="*/ 948051 w 1961391"/>
                  <a:gd name="connsiteY14" fmla="*/ 1745551 h 1745551"/>
                  <a:gd name="connsiteX15" fmla="*/ 921495 w 1961391"/>
                  <a:gd name="connsiteY15" fmla="*/ 1745551 h 1745551"/>
                  <a:gd name="connsiteX16" fmla="*/ 863600 w 1961391"/>
                  <a:gd name="connsiteY16" fmla="*/ 1745551 h 1745551"/>
                  <a:gd name="connsiteX17" fmla="*/ 840931 w 1961391"/>
                  <a:gd name="connsiteY17" fmla="*/ 1745551 h 1745551"/>
                  <a:gd name="connsiteX18" fmla="*/ 576168 w 1961391"/>
                  <a:gd name="connsiteY18" fmla="*/ 1745551 h 1745551"/>
                  <a:gd name="connsiteX19" fmla="*/ 421473 w 1961391"/>
                  <a:gd name="connsiteY19" fmla="*/ 1656697 h 1745551"/>
                  <a:gd name="connsiteX20" fmla="*/ 20411 w 1961391"/>
                  <a:gd name="connsiteY20" fmla="*/ 961629 h 1745551"/>
                  <a:gd name="connsiteX21" fmla="*/ 0 w 1961391"/>
                  <a:gd name="connsiteY21" fmla="*/ 872775 h 1745551"/>
                  <a:gd name="connsiteX22" fmla="*/ 20411 w 1961391"/>
                  <a:gd name="connsiteY22" fmla="*/ 783921 h 1745551"/>
                  <a:gd name="connsiteX23" fmla="*/ 421473 w 1961391"/>
                  <a:gd name="connsiteY23" fmla="*/ 88854 h 1745551"/>
                  <a:gd name="connsiteX24" fmla="*/ 576168 w 1961391"/>
                  <a:gd name="connsiteY24" fmla="*/ 0 h 1745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61391" h="1745551">
                    <a:moveTo>
                      <a:pt x="576168" y="0"/>
                    </a:moveTo>
                    <a:lnTo>
                      <a:pt x="863600" y="0"/>
                    </a:lnTo>
                    <a:lnTo>
                      <a:pt x="1097791" y="0"/>
                    </a:lnTo>
                    <a:lnTo>
                      <a:pt x="1385223" y="0"/>
                    </a:lnTo>
                    <a:cubicBezTo>
                      <a:pt x="1441086" y="0"/>
                      <a:pt x="1511271" y="40128"/>
                      <a:pt x="1539918" y="88854"/>
                    </a:cubicBezTo>
                    <a:cubicBezTo>
                      <a:pt x="1940980" y="783921"/>
                      <a:pt x="1940980" y="783921"/>
                      <a:pt x="1940980" y="783921"/>
                    </a:cubicBezTo>
                    <a:cubicBezTo>
                      <a:pt x="1954587" y="808285"/>
                      <a:pt x="1961391" y="840530"/>
                      <a:pt x="1961391" y="872775"/>
                    </a:cubicBezTo>
                    <a:cubicBezTo>
                      <a:pt x="1961391" y="905021"/>
                      <a:pt x="1954587" y="937267"/>
                      <a:pt x="1940980" y="961629"/>
                    </a:cubicBezTo>
                    <a:cubicBezTo>
                      <a:pt x="1539918" y="1656697"/>
                      <a:pt x="1539918" y="1656697"/>
                      <a:pt x="1539918" y="1656697"/>
                    </a:cubicBezTo>
                    <a:cubicBezTo>
                      <a:pt x="1511271" y="1705424"/>
                      <a:pt x="1441086" y="1745551"/>
                      <a:pt x="1385223" y="1745551"/>
                    </a:cubicBezTo>
                    <a:cubicBezTo>
                      <a:pt x="1284958" y="1745551"/>
                      <a:pt x="1197225" y="1745551"/>
                      <a:pt x="1120460" y="1745551"/>
                    </a:cubicBezTo>
                    <a:lnTo>
                      <a:pt x="1097791" y="1745551"/>
                    </a:lnTo>
                    <a:lnTo>
                      <a:pt x="1039896" y="1745551"/>
                    </a:lnTo>
                    <a:lnTo>
                      <a:pt x="1013340" y="1745551"/>
                    </a:lnTo>
                    <a:lnTo>
                      <a:pt x="948051" y="1745551"/>
                    </a:lnTo>
                    <a:lnTo>
                      <a:pt x="921495" y="1745551"/>
                    </a:lnTo>
                    <a:lnTo>
                      <a:pt x="863600" y="1745551"/>
                    </a:lnTo>
                    <a:lnTo>
                      <a:pt x="840931" y="1745551"/>
                    </a:lnTo>
                    <a:cubicBezTo>
                      <a:pt x="764166" y="1745551"/>
                      <a:pt x="676433" y="1745551"/>
                      <a:pt x="576168" y="1745551"/>
                    </a:cubicBezTo>
                    <a:cubicBezTo>
                      <a:pt x="520305" y="1745551"/>
                      <a:pt x="450120" y="1705424"/>
                      <a:pt x="421473" y="1656697"/>
                    </a:cubicBezTo>
                    <a:cubicBezTo>
                      <a:pt x="421473" y="1656697"/>
                      <a:pt x="421473" y="1656697"/>
                      <a:pt x="20411" y="961629"/>
                    </a:cubicBezTo>
                    <a:cubicBezTo>
                      <a:pt x="6804" y="937267"/>
                      <a:pt x="0" y="905021"/>
                      <a:pt x="0" y="872775"/>
                    </a:cubicBezTo>
                    <a:cubicBezTo>
                      <a:pt x="0" y="840530"/>
                      <a:pt x="6804" y="808285"/>
                      <a:pt x="20411" y="783921"/>
                    </a:cubicBezTo>
                    <a:cubicBezTo>
                      <a:pt x="20411" y="783921"/>
                      <a:pt x="20411" y="783921"/>
                      <a:pt x="421473" y="88854"/>
                    </a:cubicBezTo>
                    <a:cubicBezTo>
                      <a:pt x="450120" y="40128"/>
                      <a:pt x="520305" y="0"/>
                      <a:pt x="576168" y="0"/>
                    </a:cubicBezTo>
                    <a:close/>
                  </a:path>
                </a:pathLst>
              </a:custGeom>
              <a:solidFill>
                <a:srgbClr val="9CC5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36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CDB4C4-BD85-C018-0C4F-0DDC7D3FFC5C}"/>
                </a:ext>
              </a:extLst>
            </p:cNvPr>
            <p:cNvSpPr txBox="1"/>
            <p:nvPr/>
          </p:nvSpPr>
          <p:spPr>
            <a:xfrm>
              <a:off x="6865120" y="3758185"/>
              <a:ext cx="1176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</a:rPr>
                <a:t>Part.05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9D525B6-C4AB-0556-9CB7-BA28227EE9D3}"/>
              </a:ext>
            </a:extLst>
          </p:cNvPr>
          <p:cNvSpPr txBox="1"/>
          <p:nvPr/>
        </p:nvSpPr>
        <p:spPr>
          <a:xfrm>
            <a:off x="0" y="3944620"/>
            <a:ext cx="954087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3000" b="1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</a:p>
        </p:txBody>
      </p:sp>
    </p:spTree>
    <p:extLst>
      <p:ext uri="{BB962C8B-B14F-4D97-AF65-F5344CB8AC3E}">
        <p14:creationId xmlns:p14="http://schemas.microsoft.com/office/powerpoint/2010/main" val="51098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468F3-0656-E3C9-153F-35BCDBA1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5">
            <a:extLst>
              <a:ext uri="{FF2B5EF4-FFF2-40B4-BE49-F238E27FC236}">
                <a16:creationId xmlns:a16="http://schemas.microsoft.com/office/drawing/2014/main" id="{18A518AF-448A-F75A-E667-0BA29CCF4297}"/>
              </a:ext>
            </a:extLst>
          </p:cNvPr>
          <p:cNvSpPr/>
          <p:nvPr/>
        </p:nvSpPr>
        <p:spPr bwMode="auto">
          <a:xfrm>
            <a:off x="6366580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81C15A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926676C1-3BE3-2E15-A776-0116307AB4EF}"/>
              </a:ext>
            </a:extLst>
          </p:cNvPr>
          <p:cNvSpPr/>
          <p:nvPr/>
        </p:nvSpPr>
        <p:spPr bwMode="auto">
          <a:xfrm>
            <a:off x="3768758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505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4C6AEE0-4C14-2A6C-F665-EC5F4940B8B2}"/>
              </a:ext>
            </a:extLst>
          </p:cNvPr>
          <p:cNvSpPr/>
          <p:nvPr/>
        </p:nvSpPr>
        <p:spPr bwMode="auto">
          <a:xfrm>
            <a:off x="1048763" y="2039662"/>
            <a:ext cx="1553857" cy="1730916"/>
          </a:xfrm>
          <a:custGeom>
            <a:avLst/>
            <a:gdLst>
              <a:gd name="T0" fmla="*/ 0 w 975"/>
              <a:gd name="T1" fmla="*/ 141 h 1005"/>
              <a:gd name="T2" fmla="*/ 0 w 975"/>
              <a:gd name="T3" fmla="*/ 864 h 1005"/>
              <a:gd name="T4" fmla="*/ 168 w 975"/>
              <a:gd name="T5" fmla="*/ 966 h 1005"/>
              <a:gd name="T6" fmla="*/ 891 w 975"/>
              <a:gd name="T7" fmla="*/ 597 h 1005"/>
              <a:gd name="T8" fmla="*/ 889 w 975"/>
              <a:gd name="T9" fmla="*/ 391 h 1005"/>
              <a:gd name="T10" fmla="*/ 166 w 975"/>
              <a:gd name="T11" fmla="*/ 37 h 1005"/>
              <a:gd name="T12" fmla="*/ 0 w 975"/>
              <a:gd name="T13" fmla="*/ 141 h 10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5" h="1005">
                <a:moveTo>
                  <a:pt x="0" y="141"/>
                </a:moveTo>
                <a:cubicBezTo>
                  <a:pt x="0" y="864"/>
                  <a:pt x="0" y="864"/>
                  <a:pt x="0" y="864"/>
                </a:cubicBezTo>
                <a:cubicBezTo>
                  <a:pt x="0" y="950"/>
                  <a:pt x="91" y="1005"/>
                  <a:pt x="168" y="966"/>
                </a:cubicBezTo>
                <a:cubicBezTo>
                  <a:pt x="891" y="597"/>
                  <a:pt x="891" y="597"/>
                  <a:pt x="891" y="597"/>
                </a:cubicBezTo>
                <a:cubicBezTo>
                  <a:pt x="975" y="554"/>
                  <a:pt x="974" y="432"/>
                  <a:pt x="889" y="391"/>
                </a:cubicBezTo>
                <a:cubicBezTo>
                  <a:pt x="166" y="37"/>
                  <a:pt x="166" y="37"/>
                  <a:pt x="166" y="37"/>
                </a:cubicBezTo>
                <a:cubicBezTo>
                  <a:pt x="89" y="0"/>
                  <a:pt x="0" y="55"/>
                  <a:pt x="0" y="141"/>
                </a:cubicBezTo>
                <a:close/>
              </a:path>
            </a:pathLst>
          </a:custGeom>
          <a:solidFill>
            <a:srgbClr val="FFC000"/>
          </a:solidFill>
          <a:ln w="11113" cap="flat">
            <a:noFill/>
            <a:prstDash val="solid"/>
            <a:miter lim="800000"/>
          </a:ln>
        </p:spPr>
        <p:txBody>
          <a:bodyPr vert="horz" wrap="square" lIns="71557" tIns="35778" rIns="71557" bIns="35778" numCol="1" anchor="t" anchorCtr="0" compatLnSpc="1"/>
          <a:lstStyle/>
          <a:p>
            <a:endParaRPr lang="zh-CN" altLang="en-US" sz="1252"/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8241CE4B-E6B7-2AEF-12BF-BF905BD0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300" y="3829510"/>
            <a:ext cx="10875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sym typeface="+mn-lt"/>
              </a:rPr>
              <a:t>设计改进</a:t>
            </a:r>
            <a:endParaRPr lang="en-US" altLang="zh-CN">
              <a:solidFill>
                <a:srgbClr val="FFFF00"/>
              </a:solidFill>
              <a:sym typeface="+mn-lt"/>
            </a:endParaRPr>
          </a:p>
        </p:txBody>
      </p:sp>
      <p:sp>
        <p:nvSpPr>
          <p:cNvPr id="20" name="1">
            <a:extLst>
              <a:ext uri="{FF2B5EF4-FFF2-40B4-BE49-F238E27FC236}">
                <a16:creationId xmlns:a16="http://schemas.microsoft.com/office/drawing/2014/main" id="{2AAF8B5D-A665-8BF0-F193-1031633D2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84" y="4324674"/>
            <a:ext cx="2322604" cy="106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FF00"/>
                </a:solidFill>
                <a:sym typeface="+mn-lt"/>
              </a:rPr>
              <a:t>传感器位置需要敏感度适中。</a:t>
            </a:r>
            <a:endParaRPr lang="en-US" altLang="zh-CN" dirty="0">
              <a:solidFill>
                <a:srgbClr val="FFFF00"/>
              </a:solidFill>
              <a:sym typeface="+mn-lt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FF00"/>
                </a:solidFill>
                <a:sym typeface="+mn-lt"/>
              </a:rPr>
              <a:t>间室内通风无死角。</a:t>
            </a:r>
            <a:endParaRPr lang="en-US" altLang="zh-CN" dirty="0">
              <a:solidFill>
                <a:srgbClr val="FFFF00"/>
              </a:solidFill>
              <a:sym typeface="+mn-lt"/>
            </a:endParaRPr>
          </a:p>
        </p:txBody>
      </p:sp>
      <p:sp>
        <p:nvSpPr>
          <p:cNvPr id="21" name="1">
            <a:extLst>
              <a:ext uri="{FF2B5EF4-FFF2-40B4-BE49-F238E27FC236}">
                <a16:creationId xmlns:a16="http://schemas.microsoft.com/office/drawing/2014/main" id="{87910FEE-DEB7-21E9-4CC4-53A2B9AE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852" y="3832960"/>
            <a:ext cx="1028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ym typeface="+mn-lt"/>
              </a:rPr>
              <a:t>分析方法</a:t>
            </a:r>
            <a:endParaRPr lang="en-US" altLang="zh-CN">
              <a:sym typeface="+mn-lt"/>
            </a:endParaRPr>
          </a:p>
        </p:txBody>
      </p:sp>
      <p:sp>
        <p:nvSpPr>
          <p:cNvPr id="22" name="1">
            <a:extLst>
              <a:ext uri="{FF2B5EF4-FFF2-40B4-BE49-F238E27FC236}">
                <a16:creationId xmlns:a16="http://schemas.microsoft.com/office/drawing/2014/main" id="{510A1368-81AF-BBD5-C2E4-E850DE084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833" y="4332215"/>
            <a:ext cx="2142604" cy="106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just" defTabSz="1216025">
              <a:lnSpc>
                <a:spcPct val="150000"/>
              </a:lnSpc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FF5050"/>
                </a:solidFill>
                <a:sym typeface="+mn-lt"/>
              </a:rPr>
              <a:t>分析问题时基于软件、硬件、测试方法等多个角度出发。</a:t>
            </a:r>
          </a:p>
        </p:txBody>
      </p:sp>
      <p:sp>
        <p:nvSpPr>
          <p:cNvPr id="23" name="1">
            <a:extLst>
              <a:ext uri="{FF2B5EF4-FFF2-40B4-BE49-F238E27FC236}">
                <a16:creationId xmlns:a16="http://schemas.microsoft.com/office/drawing/2014/main" id="{F7E1269A-8EDC-EE9B-E209-18119140C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779" y="3829509"/>
            <a:ext cx="1028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de-DE"/>
            </a:defPPr>
            <a:lvl1pPr algn="ctr" defTabSz="1216025" eaLnBrk="1" hangingPunct="1">
              <a:spcBef>
                <a:spcPct val="20000"/>
              </a:spcBef>
              <a:defRPr sz="2000" b="1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742950" indent="-28575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r>
              <a:rPr lang="zh-CN" altLang="en-US">
                <a:solidFill>
                  <a:srgbClr val="92D050"/>
                </a:solidFill>
                <a:sym typeface="+mn-lt"/>
              </a:rPr>
              <a:t>补充测试</a:t>
            </a:r>
            <a:endParaRPr lang="en-US" altLang="zh-CN">
              <a:solidFill>
                <a:srgbClr val="92D050"/>
              </a:solidFill>
              <a:sym typeface="+mn-lt"/>
            </a:endParaRPr>
          </a:p>
        </p:txBody>
      </p:sp>
      <p:sp>
        <p:nvSpPr>
          <p:cNvPr id="27" name="iconfont-1187-868319">
            <a:extLst>
              <a:ext uri="{FF2B5EF4-FFF2-40B4-BE49-F238E27FC236}">
                <a16:creationId xmlns:a16="http://schemas.microsoft.com/office/drawing/2014/main" id="{F4298B4B-122A-72CB-33DA-CCA2A9AD1A72}"/>
              </a:ext>
            </a:extLst>
          </p:cNvPr>
          <p:cNvSpPr>
            <a:spLocks noChangeAspect="1"/>
          </p:cNvSpPr>
          <p:nvPr/>
        </p:nvSpPr>
        <p:spPr bwMode="auto">
          <a:xfrm>
            <a:off x="1336751" y="2595501"/>
            <a:ext cx="610934" cy="610425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28" name="iconfont-11920-5700803">
            <a:extLst>
              <a:ext uri="{FF2B5EF4-FFF2-40B4-BE49-F238E27FC236}">
                <a16:creationId xmlns:a16="http://schemas.microsoft.com/office/drawing/2014/main" id="{F54A5722-8FE0-4EF3-2E2C-F54FDDAC2DD6}"/>
              </a:ext>
            </a:extLst>
          </p:cNvPr>
          <p:cNvSpPr>
            <a:spLocks noChangeAspect="1"/>
          </p:cNvSpPr>
          <p:nvPr/>
        </p:nvSpPr>
        <p:spPr bwMode="auto">
          <a:xfrm>
            <a:off x="4096715" y="2623773"/>
            <a:ext cx="525224" cy="525224"/>
          </a:xfrm>
          <a:custGeom>
            <a:avLst/>
            <a:gdLst>
              <a:gd name="T0" fmla="*/ 0 w 11200"/>
              <a:gd name="T1" fmla="*/ 0 h 11200"/>
              <a:gd name="T2" fmla="*/ 4800 w 11200"/>
              <a:gd name="T3" fmla="*/ 0 h 11200"/>
              <a:gd name="T4" fmla="*/ 4800 w 11200"/>
              <a:gd name="T5" fmla="*/ 4800 h 11200"/>
              <a:gd name="T6" fmla="*/ 0 w 11200"/>
              <a:gd name="T7" fmla="*/ 4800 h 11200"/>
              <a:gd name="T8" fmla="*/ 0 w 11200"/>
              <a:gd name="T9" fmla="*/ 0 h 11200"/>
              <a:gd name="T10" fmla="*/ 0 w 11200"/>
              <a:gd name="T11" fmla="*/ 6400 h 11200"/>
              <a:gd name="T12" fmla="*/ 4800 w 11200"/>
              <a:gd name="T13" fmla="*/ 6400 h 11200"/>
              <a:gd name="T14" fmla="*/ 4800 w 11200"/>
              <a:gd name="T15" fmla="*/ 11200 h 11200"/>
              <a:gd name="T16" fmla="*/ 0 w 11200"/>
              <a:gd name="T17" fmla="*/ 11200 h 11200"/>
              <a:gd name="T18" fmla="*/ 0 w 11200"/>
              <a:gd name="T19" fmla="*/ 6400 h 11200"/>
              <a:gd name="T20" fmla="*/ 6400 w 11200"/>
              <a:gd name="T21" fmla="*/ 6400 h 11200"/>
              <a:gd name="T22" fmla="*/ 11200 w 11200"/>
              <a:gd name="T23" fmla="*/ 6400 h 11200"/>
              <a:gd name="T24" fmla="*/ 11200 w 11200"/>
              <a:gd name="T25" fmla="*/ 11200 h 11200"/>
              <a:gd name="T26" fmla="*/ 6400 w 11200"/>
              <a:gd name="T27" fmla="*/ 11200 h 11200"/>
              <a:gd name="T28" fmla="*/ 6400 w 11200"/>
              <a:gd name="T29" fmla="*/ 6400 h 11200"/>
              <a:gd name="T30" fmla="*/ 8800 w 11200"/>
              <a:gd name="T31" fmla="*/ 4800 h 11200"/>
              <a:gd name="T32" fmla="*/ 11200 w 11200"/>
              <a:gd name="T33" fmla="*/ 2400 h 11200"/>
              <a:gd name="T34" fmla="*/ 8800 w 11200"/>
              <a:gd name="T35" fmla="*/ 0 h 11200"/>
              <a:gd name="T36" fmla="*/ 6400 w 11200"/>
              <a:gd name="T37" fmla="*/ 2400 h 11200"/>
              <a:gd name="T38" fmla="*/ 8800 w 11200"/>
              <a:gd name="T39" fmla="*/ 4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00" h="11200">
                <a:moveTo>
                  <a:pt x="0" y="0"/>
                </a:moveTo>
                <a:lnTo>
                  <a:pt x="4800" y="0"/>
                </a:lnTo>
                <a:lnTo>
                  <a:pt x="4800" y="4800"/>
                </a:lnTo>
                <a:lnTo>
                  <a:pt x="0" y="4800"/>
                </a:lnTo>
                <a:lnTo>
                  <a:pt x="0" y="0"/>
                </a:lnTo>
                <a:close/>
                <a:moveTo>
                  <a:pt x="0" y="6400"/>
                </a:moveTo>
                <a:lnTo>
                  <a:pt x="4800" y="6400"/>
                </a:lnTo>
                <a:lnTo>
                  <a:pt x="4800" y="11200"/>
                </a:lnTo>
                <a:lnTo>
                  <a:pt x="0" y="11200"/>
                </a:lnTo>
                <a:lnTo>
                  <a:pt x="0" y="6400"/>
                </a:lnTo>
                <a:close/>
                <a:moveTo>
                  <a:pt x="6400" y="6400"/>
                </a:moveTo>
                <a:lnTo>
                  <a:pt x="11200" y="6400"/>
                </a:lnTo>
                <a:lnTo>
                  <a:pt x="11200" y="11200"/>
                </a:lnTo>
                <a:lnTo>
                  <a:pt x="6400" y="11200"/>
                </a:lnTo>
                <a:lnTo>
                  <a:pt x="6400" y="6400"/>
                </a:lnTo>
                <a:close/>
                <a:moveTo>
                  <a:pt x="8800" y="4800"/>
                </a:moveTo>
                <a:cubicBezTo>
                  <a:pt x="10125" y="4800"/>
                  <a:pt x="11200" y="3725"/>
                  <a:pt x="11200" y="2400"/>
                </a:cubicBezTo>
                <a:cubicBezTo>
                  <a:pt x="11200" y="1075"/>
                  <a:pt x="10125" y="0"/>
                  <a:pt x="8800" y="0"/>
                </a:cubicBezTo>
                <a:cubicBezTo>
                  <a:pt x="7475" y="0"/>
                  <a:pt x="6400" y="1075"/>
                  <a:pt x="6400" y="2400"/>
                </a:cubicBezTo>
                <a:cubicBezTo>
                  <a:pt x="6400" y="3725"/>
                  <a:pt x="7475" y="4800"/>
                  <a:pt x="8800" y="4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sp>
        <p:nvSpPr>
          <p:cNvPr id="30" name="iconfont-1187-868307">
            <a:extLst>
              <a:ext uri="{FF2B5EF4-FFF2-40B4-BE49-F238E27FC236}">
                <a16:creationId xmlns:a16="http://schemas.microsoft.com/office/drawing/2014/main" id="{C564B745-2494-56D9-A7A5-3E391CC783A0}"/>
              </a:ext>
            </a:extLst>
          </p:cNvPr>
          <p:cNvSpPr>
            <a:spLocks noChangeAspect="1"/>
          </p:cNvSpPr>
          <p:nvPr/>
        </p:nvSpPr>
        <p:spPr bwMode="auto">
          <a:xfrm>
            <a:off x="6685608" y="2605772"/>
            <a:ext cx="537881" cy="526550"/>
          </a:xfrm>
          <a:custGeom>
            <a:avLst/>
            <a:gdLst>
              <a:gd name="T0" fmla="*/ 2895 w 12754"/>
              <a:gd name="T1" fmla="*/ 3482 h 12486"/>
              <a:gd name="T2" fmla="*/ 6377 w 12754"/>
              <a:gd name="T3" fmla="*/ 0 h 12486"/>
              <a:gd name="T4" fmla="*/ 9859 w 12754"/>
              <a:gd name="T5" fmla="*/ 3482 h 12486"/>
              <a:gd name="T6" fmla="*/ 6377 w 12754"/>
              <a:gd name="T7" fmla="*/ 6963 h 12486"/>
              <a:gd name="T8" fmla="*/ 2895 w 12754"/>
              <a:gd name="T9" fmla="*/ 3482 h 12486"/>
              <a:gd name="T10" fmla="*/ 0 w 12754"/>
              <a:gd name="T11" fmla="*/ 12468 h 12486"/>
              <a:gd name="T12" fmla="*/ 3586 w 12754"/>
              <a:gd name="T13" fmla="*/ 7045 h 12486"/>
              <a:gd name="T14" fmla="*/ 6377 w 12754"/>
              <a:gd name="T15" fmla="*/ 8014 h 12486"/>
              <a:gd name="T16" fmla="*/ 9182 w 12754"/>
              <a:gd name="T17" fmla="*/ 7036 h 12486"/>
              <a:gd name="T18" fmla="*/ 12754 w 12754"/>
              <a:gd name="T19" fmla="*/ 12468 h 12486"/>
              <a:gd name="T20" fmla="*/ 0 w 12754"/>
              <a:gd name="T21" fmla="*/ 12468 h 12486"/>
              <a:gd name="T22" fmla="*/ 0 w 12754"/>
              <a:gd name="T23" fmla="*/ 12468 h 12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754" h="12486">
                <a:moveTo>
                  <a:pt x="2895" y="3482"/>
                </a:moveTo>
                <a:cubicBezTo>
                  <a:pt x="2895" y="1562"/>
                  <a:pt x="4457" y="0"/>
                  <a:pt x="6377" y="0"/>
                </a:cubicBezTo>
                <a:cubicBezTo>
                  <a:pt x="8297" y="0"/>
                  <a:pt x="9859" y="1562"/>
                  <a:pt x="9859" y="3482"/>
                </a:cubicBezTo>
                <a:cubicBezTo>
                  <a:pt x="9859" y="5402"/>
                  <a:pt x="8297" y="6963"/>
                  <a:pt x="6377" y="6963"/>
                </a:cubicBezTo>
                <a:cubicBezTo>
                  <a:pt x="4457" y="6963"/>
                  <a:pt x="2895" y="5402"/>
                  <a:pt x="2895" y="3482"/>
                </a:cubicBezTo>
                <a:close/>
                <a:moveTo>
                  <a:pt x="0" y="12468"/>
                </a:moveTo>
                <a:cubicBezTo>
                  <a:pt x="75" y="11626"/>
                  <a:pt x="479" y="8643"/>
                  <a:pt x="3586" y="7045"/>
                </a:cubicBezTo>
                <a:cubicBezTo>
                  <a:pt x="4356" y="7650"/>
                  <a:pt x="5324" y="8014"/>
                  <a:pt x="6377" y="8014"/>
                </a:cubicBezTo>
                <a:cubicBezTo>
                  <a:pt x="7436" y="8014"/>
                  <a:pt x="8409" y="7647"/>
                  <a:pt x="9182" y="7036"/>
                </a:cubicBezTo>
                <a:cubicBezTo>
                  <a:pt x="12302" y="8627"/>
                  <a:pt x="12678" y="11589"/>
                  <a:pt x="12754" y="12468"/>
                </a:cubicBezTo>
                <a:cubicBezTo>
                  <a:pt x="12736" y="12486"/>
                  <a:pt x="18" y="12470"/>
                  <a:pt x="0" y="12468"/>
                </a:cubicBezTo>
                <a:close/>
                <a:moveTo>
                  <a:pt x="0" y="1246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sz="1252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FC24610-2359-FD3D-6612-DCDDD5854D0D}"/>
              </a:ext>
            </a:extLst>
          </p:cNvPr>
          <p:cNvCxnSpPr/>
          <p:nvPr/>
        </p:nvCxnSpPr>
        <p:spPr bwMode="auto">
          <a:xfrm>
            <a:off x="0" y="1035575"/>
            <a:ext cx="9540875" cy="0"/>
          </a:xfrm>
          <a:prstGeom prst="lin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F85BF91F-4B27-BA96-30ED-9A130DF21DAB}"/>
              </a:ext>
            </a:extLst>
          </p:cNvPr>
          <p:cNvSpPr txBox="1">
            <a:spLocks/>
          </p:cNvSpPr>
          <p:nvPr/>
        </p:nvSpPr>
        <p:spPr bwMode="auto">
          <a:xfrm>
            <a:off x="137198" y="530219"/>
            <a:ext cx="8816975" cy="3603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5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5.</a:t>
            </a:r>
            <a:r>
              <a:rPr lang="zh-CN" altLang="en-US"/>
              <a:t>总结</a:t>
            </a:r>
            <a:r>
              <a:rPr lang="en-US" altLang="zh-CN"/>
              <a:t>&amp;</a:t>
            </a:r>
            <a:r>
              <a:rPr lang="zh-CN" altLang="en-US"/>
              <a:t>启发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eiss;Weiss;Weiss;-1;Schwarz"/>
</p:tagLst>
</file>

<file path=ppt/theme/theme1.xml><?xml version="1.0" encoding="utf-8"?>
<a:theme xmlns:a="http://schemas.openxmlformats.org/drawingml/2006/main" name="BSH-Praesentation">
  <a:themeElements>
    <a:clrScheme name="BSH1 Warm">
      <a:dk1>
        <a:srgbClr val="000000"/>
      </a:dk1>
      <a:lt1>
        <a:srgbClr val="FFFFFF"/>
      </a:lt1>
      <a:dk2>
        <a:srgbClr val="99C8AD"/>
      </a:dk2>
      <a:lt2>
        <a:srgbClr val="E66E0F"/>
      </a:lt2>
      <a:accent1>
        <a:srgbClr val="AA3232"/>
      </a:accent1>
      <a:accent2>
        <a:srgbClr val="96B9DC"/>
      </a:accent2>
      <a:accent3>
        <a:srgbClr val="0050A5"/>
      </a:accent3>
      <a:accent4>
        <a:srgbClr val="F0C896"/>
      </a:accent4>
      <a:accent5>
        <a:srgbClr val="E66E0F"/>
      </a:accent5>
      <a:accent6>
        <a:srgbClr val="99C8AD"/>
      </a:accent6>
      <a:hlink>
        <a:srgbClr val="0050A5"/>
      </a:hlink>
      <a:folHlink>
        <a:srgbClr val="F0C896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99C8AD"/>
        </a:dk2>
        <a:lt2>
          <a:srgbClr val="E66E0F"/>
        </a:lt2>
        <a:accent1>
          <a:srgbClr val="AA3232"/>
        </a:accent1>
        <a:accent2>
          <a:srgbClr val="96B9DC"/>
        </a:accent2>
        <a:accent3>
          <a:srgbClr val="FFFFFF"/>
        </a:accent3>
        <a:accent4>
          <a:srgbClr val="000000"/>
        </a:accent4>
        <a:accent5>
          <a:srgbClr val="D2ADAD"/>
        </a:accent5>
        <a:accent6>
          <a:srgbClr val="87A7C7"/>
        </a:accent6>
        <a:hlink>
          <a:srgbClr val="0050A5"/>
        </a:hlink>
        <a:folHlink>
          <a:srgbClr val="F0C8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CDDCF0"/>
        </a:dk2>
        <a:lt2>
          <a:srgbClr val="999999"/>
        </a:lt2>
        <a:accent1>
          <a:srgbClr val="3273B9"/>
        </a:accent1>
        <a:accent2>
          <a:srgbClr val="96B9DC"/>
        </a:accent2>
        <a:accent3>
          <a:srgbClr val="FFFFFF"/>
        </a:accent3>
        <a:accent4>
          <a:srgbClr val="000000"/>
        </a:accent4>
        <a:accent5>
          <a:srgbClr val="ADBCD9"/>
        </a:accent5>
        <a:accent6>
          <a:srgbClr val="87A7C7"/>
        </a:accent6>
        <a:hlink>
          <a:srgbClr val="0050A5"/>
        </a:hlink>
        <a:folHlink>
          <a:srgbClr val="6496C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E6E6E6"/>
        </a:dk2>
        <a:lt2>
          <a:srgbClr val="999999"/>
        </a:lt2>
        <a:accent1>
          <a:srgbClr val="666666"/>
        </a:accent1>
        <a:accent2>
          <a:srgbClr val="B3B3B3"/>
        </a:accent2>
        <a:accent3>
          <a:srgbClr val="FFFFFF"/>
        </a:accent3>
        <a:accent4>
          <a:srgbClr val="000000"/>
        </a:accent4>
        <a:accent5>
          <a:srgbClr val="B8B8B8"/>
        </a:accent5>
        <a:accent6>
          <a:srgbClr val="A2A2A2"/>
        </a:accent6>
        <a:hlink>
          <a:srgbClr val="80808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66689D152F0B3B4B8E44349FCA711FF5" ma:contentTypeVersion="19" ma:contentTypeDescription="新建文档。" ma:contentTypeScope="" ma:versionID="8a720e753b47a19f1c05744a7e8e30c5">
  <xsd:schema xmlns:xsd="http://www.w3.org/2001/XMLSchema" xmlns:xs="http://www.w3.org/2001/XMLSchema" xmlns:p="http://schemas.microsoft.com/office/2006/metadata/properties" xmlns:ns2="bbe6002c-dc1a-4d55-a0cd-e322223912c3" xmlns:ns3="83f96245-f9e5-4b70-b648-9810454ad2f4" targetNamespace="http://schemas.microsoft.com/office/2006/metadata/properties" ma:root="true" ma:fieldsID="9cfde9a318e24a589d5808f5a207234c" ns2:_="" ns3:_="">
    <xsd:import namespace="bbe6002c-dc1a-4d55-a0cd-e322223912c3"/>
    <xsd:import namespace="83f96245-f9e5-4b70-b648-9810454ad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3:SharedWithUsers" minOccurs="0"/>
                <xsd:element ref="ns3:SharedWithDetails" minOccurs="0"/>
                <xsd:element ref="ns2:Standard" minOccurs="0"/>
                <xsd:element ref="ns2:MediaServiceObjectDetectorVersions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vers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6002c-dc1a-4d55-a0cd-e322223912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Standard" ma:index="20" nillable="true" ma:displayName="Standard" ma:format="Dropdown" ma:internalName="Standard">
      <xsd:simpleType>
        <xsd:restriction base="dms:Choice">
          <xsd:enumeration value="CR"/>
          <xsd:enumeration value="Energy consumption"/>
          <xsd:enumeration value="AHAM 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version" ma:index="25" nillable="true" ma:displayName="version" ma:format="Dropdown" ma:internalName="version" ma:percentage="FALSE">
      <xsd:simpleType>
        <xsd:restriction base="dms:Number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96245-f9e5-4b70-b648-9810454ad2f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d626e0c-f118-4d7a-b3ea-bda9abb70cfc}" ma:internalName="TaxCatchAll" ma:showField="CatchAllData" ma:web="83f96245-f9e5-4b70-b648-9810454ad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e6002c-dc1a-4d55-a0cd-e322223912c3">
      <Terms xmlns="http://schemas.microsoft.com/office/infopath/2007/PartnerControls"/>
    </lcf76f155ced4ddcb4097134ff3c332f>
    <version xmlns="bbe6002c-dc1a-4d55-a0cd-e322223912c3" xsi:nil="true"/>
    <Standard xmlns="bbe6002c-dc1a-4d55-a0cd-e322223912c3" xsi:nil="true"/>
    <TaxCatchAll xmlns="83f96245-f9e5-4b70-b648-9810454ad2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1C700D-75D3-4EF5-8C83-838DFA8DC0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e6002c-dc1a-4d55-a0cd-e322223912c3"/>
    <ds:schemaRef ds:uri="83f96245-f9e5-4b70-b648-9810454ad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04FF0B-B520-47F4-AB35-BF5532B7D662}">
  <ds:schemaRefs>
    <ds:schemaRef ds:uri="83f96245-f9e5-4b70-b648-9810454ad2f4"/>
    <ds:schemaRef ds:uri="bbe6002c-dc1a-4d55-a0cd-e322223912c3"/>
    <ds:schemaRef ds:uri="bff9f7aa-aa54-4133-9bd6-20b3576fe00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32BEC8-357C-4121-A2C5-71A46F7F3C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BSH-Praesentation</Template>
  <TotalTime>4852</TotalTime>
  <Words>692</Words>
  <Application>Microsoft Office PowerPoint</Application>
  <PresentationFormat>自定义</PresentationFormat>
  <Paragraphs>117</Paragraphs>
  <Slides>16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BSH-Praesentation</vt:lpstr>
      <vt:lpstr>Problem solving booklet_ Compartment inner condensation</vt:lpstr>
      <vt:lpstr>PowerPoint 演示文稿</vt:lpstr>
      <vt:lpstr>PowerPoint 演示文稿</vt:lpstr>
      <vt:lpstr>PowerPoint 演示文稿</vt:lpstr>
      <vt:lpstr>PowerPoint 演示文稿</vt:lpstr>
      <vt:lpstr>影响因素鱼骨图</vt:lpstr>
      <vt:lpstr>主要影响因素</vt:lpstr>
      <vt:lpstr>问题机制</vt:lpstr>
      <vt:lpstr>问题复现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Trost (ZKK); Steenblock (ZGI); Simon (IT-EMEA/TW-W)</Manager>
  <Company>BSH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PRF_66_20170705_8D_Ice-Crusher-Delamination</dc:title>
  <dc:subject>BSH Templates</dc:subject>
  <dc:creator>Joerg Hillmann</dc:creator>
  <cp:lastModifiedBy>Wang Xianzhong (BSH GDE-CLBSA1)</cp:lastModifiedBy>
  <cp:revision>26</cp:revision>
  <dcterms:created xsi:type="dcterms:W3CDTF">2015-11-03T11:01:06Z</dcterms:created>
  <dcterms:modified xsi:type="dcterms:W3CDTF">2026-01-04T03:26:06Z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tilFooter">
    <vt:lpwstr>20.09.2010-XXX-Thema des Vortrags I Abt. I</vt:lpwstr>
  </property>
  <property fmtid="{D5CDD505-2E9C-101B-9397-08002B2CF9AE}" pid="3" name="ContentTypeId">
    <vt:lpwstr>0x01010066689D152F0B3B4B8E44349FCA711FF5</vt:lpwstr>
  </property>
  <property fmtid="{D5CDD505-2E9C-101B-9397-08002B2CF9AE}" pid="4" name="_dlc_DocIdItemGuid">
    <vt:lpwstr>6765d7e7-1fe2-475b-a93b-90137ae85036</vt:lpwstr>
  </property>
  <property fmtid="{D5CDD505-2E9C-101B-9397-08002B2CF9AE}" pid="5" name="MediaServiceImageTags">
    <vt:lpwstr/>
  </property>
</Properties>
</file>